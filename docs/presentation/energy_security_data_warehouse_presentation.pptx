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48"/>
    <p:restoredTop sz="94595"/>
  </p:normalViewPr>
  <p:slideViewPr>
    <p:cSldViewPr snapToGrid="0" snapToObjects="1">
      <p:cViewPr varScale="1">
        <p:scale>
          <a:sx n="102" d="100"/>
          <a:sy n="102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E3149-2ABA-463D-BE9E-3E1BB0413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47F2AB-E11E-4399-BAC4-7F3A97AFF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241C6-B934-4712-8356-6B3505FF5EF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25/09/26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D7F33-67FB-40DF-85F5-242C2F0228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8B8EE-C699-4033-939D-BCC40D6A9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0D34-1303-4F0F-A735-DA05F6F32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14888-C6D9-48CC-A197-19A9290A2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C53F5-E682-4FF1-8479-7CAEFBE7A8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25/09/26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F6246-5716-45E5-B0B2-D9AE9255D0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0FE1E-5091-4DC5-B961-62C87119C9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C698E-D197-489C-B4A8-715DD3634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7AB17-40CA-4BE2-A124-61F7E6DFA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31600-1DB0-4994-ABA5-4A8EC1F238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25/09/26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9C71A-83F3-4306-927B-71D30BC768A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1737D-C0BB-41CE-A8F4-7E985BDDD6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8622-F31E-4F6B-91DE-CBDCA247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D2EF8-B00E-4D25-804E-47CDFBB41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AF9AA-F91A-4052-B738-8E3FFC6A702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E1CDE-F1E0-471F-BF8E-EE15343900D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25/09/26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967D6-89AE-4815-A3B7-3144C98DF7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7C150-ABF3-4971-A207-E66500C8AC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83D61-2014-46C2-A400-38D564DF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7BC1E-A458-42BF-A028-0992BD740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10BCFD-28B2-4629-93E0-31229084D79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B0FF8A-9E13-4872-B63F-A92F249A3F1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1A61F3-6B3C-4069-BF35-1B6DE7D96DE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808CD7-09CC-4A4A-A3AE-6DD41496CB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25/09/26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097C5B-15A6-4550-A017-AAEE4ACB99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9B5CA2-789B-45A3-A6AE-7380657011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0D95-FDE4-4837-A9FF-ABD6CFB1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4ACEB8-BBF7-4670-AD08-77A6CCDBF93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25/09/26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60F659-81CF-43CC-ABE9-9901736843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2269B-4041-4DA1-B200-50D220D5E8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826C18-C0FE-40D2-8337-211580C1C5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25/09/26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02F073-324A-4A92-88BA-E4C2D817CC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3B93E-3D60-4503-9F7D-7C438D6901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406D9-177B-4036-B423-DCBC41780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57BA3-373E-4FCD-82C2-EB95BB764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79323-C702-4058-9957-8CDE5A3C85D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D83F3-50D7-4B69-BE45-818E3A821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25/09/26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09A1C-0C23-402C-874E-0B3036F5A2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0346D-66B7-49EB-A3F2-B245CB638A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0CDD1-4FD4-4DEE-9F01-CFB83DCC7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7A8EB1-F83E-4D71-95E4-032E005CB1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F603B-957F-4B70-BB76-0120BD2BAF5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6A717-B50E-4C52-82D6-F70AB40376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25/09/26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D7A64-ADFE-4A8A-84DB-B6AB2A7177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44025-75E4-4AFC-BDFC-0DB76AA6A3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078BB-D4FA-4D6F-9E92-1F250C305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90523-1A9B-435C-A88E-213B38A80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8A762-60E8-4123-A10F-32F3024887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25/09/26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0FD1F-25AC-4AAC-9019-405F8E70D1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F8911-8BBF-4976-BF42-9342B98772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407D20-7917-44A6-BE17-CC79A5FF7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EA929-7F70-46C2-8F20-0B15C8A36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4C010-AB2D-494A-A653-0F917E96AE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25/09/26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E7A80-645E-4D0B-B2ED-9D1FD1EC43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A1BA8-2BBA-4962-BAAC-12CFCA5BFB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0B7F47-2CFA-4CFF-AAA6-506DB07F5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8F6C4-4108-44E7-B8D5-954C6260C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69E4E-98E5-4A60-B804-DB399CEDD20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25/09/26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AA031-12D3-4985-8A1D-B58E630E11F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0BD47-DF74-45C8-B0B4-CAC69B9B738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65772E-F8EE-4934-9157-E012A97CEB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C2B6BFF-3197-4C88-BBCC-C939DAC2BE58}"/>
              </a:ext>
            </a:extLst>
          </p:cNvPr>
          <p:cNvSpPr>
            <a:spLocks noGrp="1"/>
          </p:cNvSpPr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9A255D3-44F1-4295-83BD-19D3D8CDDC93}"/>
              </a:ext>
            </a:extLst>
          </p:cNvPr>
          <p:cNvSpPr>
            <a:spLocks noGrp="1"/>
          </p:cNvSpPr>
          <p:nvPr/>
        </p:nvSpPr>
        <p:spPr>
          <a:xfrm>
            <a:off x="1645920" y="1463040"/>
            <a:ext cx="4114800" cy="36576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 sz="950" b="1">
                <a:solidFill>
                  <a:srgbClr val="1E3A8A"/>
                </a:solidFill>
                <a:latin typeface="Segoe UI"/>
                <a:ea typeface="Segoe UI"/>
                <a:cs typeface="Segoe UI"/>
              </a:defRPr>
            </a:pPr>
            <a:r>
              <a:t>SAPIENZA UNIVERSITY OF ROME • A.A. 2025/2026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43F06-C4CF-4E9E-8BEF-288A8219E95C}"/>
              </a:ext>
            </a:extLst>
          </p:cNvPr>
          <p:cNvSpPr>
            <a:spLocks noGrp="1"/>
          </p:cNvSpPr>
          <p:nvPr/>
        </p:nvSpPr>
        <p:spPr>
          <a:xfrm>
            <a:off x="1645920" y="2011680"/>
            <a:ext cx="8869680" cy="902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36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rPr dirty="0"/>
              <a:t>Energy Security Data Warehouse</a:t>
            </a:r>
          </a:p>
          <a:p>
            <a:pPr>
              <a:spcBef>
                <a:spcPts val="800"/>
              </a:spcBef>
              <a:buNone/>
              <a:defRPr sz="16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dirty="0"/>
              <a:t>Analyzing Geopolitical Risk and Energy Resilience in Europe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BBF8D-61CC-40E1-B768-FF8192B252AC}"/>
              </a:ext>
            </a:extLst>
          </p:cNvPr>
          <p:cNvSpPr>
            <a:spLocks noGrp="1"/>
          </p:cNvSpPr>
          <p:nvPr/>
        </p:nvSpPr>
        <p:spPr>
          <a:xfrm>
            <a:off x="1645920" y="3840480"/>
            <a:ext cx="8869680" cy="687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3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rPr dirty="0"/>
              <a:t>Data Management</a:t>
            </a:r>
          </a:p>
          <a:p>
            <a:pPr>
              <a:spcBef>
                <a:spcPts val="400"/>
              </a:spcBef>
              <a:buNone/>
              <a:defRPr sz="1200">
                <a:solidFill>
                  <a:srgbClr val="334155"/>
                </a:solidFill>
                <a:latin typeface="Segoe UI"/>
                <a:ea typeface="Segoe UI"/>
                <a:cs typeface="Segoe UI"/>
              </a:defRPr>
            </a:pPr>
            <a:r>
              <a:rPr dirty="0"/>
              <a:t>Instructor</a:t>
            </a:r>
            <a:r>
              <a:rPr lang="it-IT" dirty="0" err="1"/>
              <a:t>s</a:t>
            </a:r>
            <a:r>
              <a:rPr dirty="0"/>
              <a:t>: </a:t>
            </a:r>
            <a:r>
              <a:rPr lang="it-IT" dirty="0"/>
              <a:t>Prof. Domenico LEMBO, Prof.ssa Antonella POGGI, </a:t>
            </a:r>
            <a:r>
              <a:rPr dirty="0"/>
              <a:t>Prof. Roberto</a:t>
            </a:r>
            <a:r>
              <a:rPr lang="it-IT" dirty="0"/>
              <a:t> Maria</a:t>
            </a:r>
            <a:r>
              <a:rPr dirty="0"/>
              <a:t> D</a:t>
            </a:r>
            <a:r>
              <a:rPr lang="it-IT" dirty="0"/>
              <a:t>ELFINO</a:t>
            </a:r>
            <a:endParaRPr dirty="0"/>
          </a:p>
          <a:p>
            <a:pPr>
              <a:spcBef>
                <a:spcPts val="400"/>
              </a:spcBef>
              <a:buNone/>
              <a:defRPr sz="1300" b="1">
                <a:solidFill>
                  <a:srgbClr val="1E3A8A"/>
                </a:solidFill>
                <a:latin typeface="Segoe UI"/>
                <a:ea typeface="Segoe UI"/>
                <a:cs typeface="Segoe UI"/>
              </a:defRPr>
            </a:pPr>
            <a:r>
              <a:rPr dirty="0"/>
              <a:t>Candidates: Francesco Gallo (Matr. 2162128) &amp; Daniele Zito (Matr. 1985455)</a:t>
            </a:r>
          </a:p>
        </p:txBody>
      </p:sp>
    </p:spTree>
    <p:extLst>
      <p:ext uri="{BB962C8B-B14F-4D97-AF65-F5344CB8AC3E}">
        <p14:creationId xmlns:p14="http://schemas.microsoft.com/office/powerpoint/2010/main" val="2035366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9DEDE2-2612-49A4-B8A0-66655F8EE1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A13695-1B12-4523-B2FD-AF8573166895}"/>
              </a:ext>
            </a:extLst>
          </p:cNvPr>
          <p:cNvSpPr>
            <a:spLocks noGrp="1"/>
          </p:cNvSpPr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000" b="1">
                <a:solidFill>
                  <a:srgbClr val="0D9488"/>
                </a:solidFill>
                <a:latin typeface="Segoe UI"/>
                <a:ea typeface="Segoe UI"/>
                <a:cs typeface="Segoe UI"/>
              </a:defRPr>
            </a:pPr>
            <a:r>
              <a:t>01 | BACKGROUND &amp; 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BA7EF-63E2-4F86-BB7C-D3944D5C3190}"/>
              </a:ext>
            </a:extLst>
          </p:cNvPr>
          <p:cNvSpPr>
            <a:spLocks noGrp="1"/>
          </p:cNvSpPr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2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rPr dirty="0"/>
              <a:t>The 2022 Energy Shock &amp; Geopolitical Vulnerability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80F0CA-4C9A-4078-81FA-A43F4592DAD5}"/>
              </a:ext>
            </a:extLst>
          </p:cNvPr>
          <p:cNvSpPr>
            <a:spLocks noGrp="1"/>
          </p:cNvSpPr>
          <p:nvPr/>
        </p:nvSpPr>
        <p:spPr>
          <a:xfrm>
            <a:off x="731520" y="120700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A6A37D-CF26-444A-89E0-249888673D2E}"/>
              </a:ext>
            </a:extLst>
          </p:cNvPr>
          <p:cNvSpPr>
            <a:spLocks noGrp="1"/>
          </p:cNvSpPr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1742D1-8F0D-4AB0-B508-C7DC2788E179}"/>
              </a:ext>
            </a:extLst>
          </p:cNvPr>
          <p:cNvSpPr>
            <a:spLocks noGrp="1"/>
          </p:cNvSpPr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Sapienza Università di Roma — Data Management (2025/2026) | Francesco Gallo &amp; Daniele Zito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96CD85-1F32-47E9-B924-FB857C32CAE8}"/>
              </a:ext>
            </a:extLst>
          </p:cNvPr>
          <p:cNvSpPr>
            <a:spLocks noGrp="1"/>
          </p:cNvSpPr>
          <p:nvPr/>
        </p:nvSpPr>
        <p:spPr>
          <a:xfrm>
            <a:off x="9144000" y="6400800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9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Slide 2 / 12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2388C6A-447A-4EB9-82F6-2C7FDF702437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5943600" cy="4572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1C24B8-1829-471E-AB95-219C05A07700}"/>
              </a:ext>
            </a:extLst>
          </p:cNvPr>
          <p:cNvSpPr>
            <a:spLocks noGrp="1"/>
          </p:cNvSpPr>
          <p:nvPr/>
        </p:nvSpPr>
        <p:spPr>
          <a:xfrm>
            <a:off x="1005840" y="2080260"/>
            <a:ext cx="539496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6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rPr dirty="0"/>
              <a:t>The Geopolitical Shock of 2022</a:t>
            </a:r>
          </a:p>
          <a:p>
            <a:pPr>
              <a:spcBef>
                <a:spcPts val="1200"/>
              </a:spcBef>
              <a:buNone/>
            </a:pPr>
            <a:r>
              <a:rPr sz="1250" b="1" dirty="0">
                <a:solidFill>
                  <a:srgbClr val="1E3A8A"/>
                </a:solidFill>
              </a:rPr>
              <a:t>• Unprecedented Market Volatility: </a:t>
            </a:r>
            <a:r>
              <a:rPr sz="1250" dirty="0">
                <a:solidFill>
                  <a:srgbClr val="334155"/>
                </a:solidFill>
              </a:rPr>
              <a:t>The outbreak of the Russo-Ukrainian war triggered historic disruptions in natural gas flows, causing TTF gas prices and electricity tariffs to </a:t>
            </a:r>
            <a:r>
              <a:rPr lang="it-IT" sz="1250" dirty="0">
                <a:solidFill>
                  <a:srgbClr val="334155"/>
                </a:solidFill>
              </a:rPr>
              <a:t>increase</a:t>
            </a:r>
            <a:r>
              <a:rPr sz="1250" dirty="0">
                <a:solidFill>
                  <a:srgbClr val="334155"/>
                </a:solidFill>
              </a:rPr>
              <a:t> across Europe.</a:t>
            </a:r>
          </a:p>
          <a:p>
            <a:pPr>
              <a:spcBef>
                <a:spcPts val="1200"/>
              </a:spcBef>
              <a:buNone/>
            </a:pPr>
            <a:r>
              <a:rPr sz="1250" b="1" dirty="0">
                <a:solidFill>
                  <a:srgbClr val="1E3A8A"/>
                </a:solidFill>
              </a:rPr>
              <a:t>• Asymmetric Exposure: </a:t>
            </a:r>
            <a:r>
              <a:rPr sz="1250" dirty="0">
                <a:solidFill>
                  <a:srgbClr val="334155"/>
                </a:solidFill>
              </a:rPr>
              <a:t>European member states experienced divergent economic strains based on their baseline reliance on Russian pipeline infrastructure vs LNG alternatives.</a:t>
            </a:r>
          </a:p>
          <a:p>
            <a:pPr>
              <a:spcBef>
                <a:spcPts val="1200"/>
              </a:spcBef>
              <a:buNone/>
            </a:pPr>
            <a:r>
              <a:rPr sz="1250" b="1" dirty="0">
                <a:solidFill>
                  <a:srgbClr val="1E3A8A"/>
                </a:solidFill>
              </a:rPr>
              <a:t>• Decision-Making Gridlock: </a:t>
            </a:r>
            <a:r>
              <a:rPr sz="1250" dirty="0">
                <a:solidFill>
                  <a:srgbClr val="334155"/>
                </a:solidFill>
              </a:rPr>
              <a:t>Policy-makers faced severely fragmented data: intelligence, market tariffs, and strategic reserves were trapped in isolated institutional silos.</a:t>
            </a:r>
          </a:p>
          <a:p>
            <a:pPr>
              <a:spcBef>
                <a:spcPts val="1200"/>
              </a:spcBef>
              <a:buNone/>
            </a:pPr>
            <a:r>
              <a:rPr sz="1250" b="1" dirty="0">
                <a:solidFill>
                  <a:srgbClr val="1E3A8A"/>
                </a:solidFill>
              </a:rPr>
              <a:t>• Analytical Goal: </a:t>
            </a:r>
            <a:r>
              <a:rPr sz="1250" dirty="0">
                <a:solidFill>
                  <a:srgbClr val="334155"/>
                </a:solidFill>
              </a:rPr>
              <a:t>Build a unified, time-aware Data Warehouse to quantify the transmission dynamics of international geopolitical risk into real economic energy resilience.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5FFDFB3-016F-4CA2-A842-599171FC4320}"/>
              </a:ext>
            </a:extLst>
          </p:cNvPr>
          <p:cNvSpPr>
            <a:spLocks noGrp="1"/>
          </p:cNvSpPr>
          <p:nvPr/>
        </p:nvSpPr>
        <p:spPr>
          <a:xfrm>
            <a:off x="6949440" y="1463040"/>
            <a:ext cx="4510735" cy="457200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31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6EC0F6-6244-44DC-9EC2-315256C4CB1D}"/>
              </a:ext>
            </a:extLst>
          </p:cNvPr>
          <p:cNvSpPr>
            <a:spLocks noGrp="1"/>
          </p:cNvSpPr>
          <p:nvPr/>
        </p:nvSpPr>
        <p:spPr>
          <a:xfrm>
            <a:off x="0" y="36576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B6982A-4E67-426B-877F-F67110D6FEA4}"/>
              </a:ext>
            </a:extLst>
          </p:cNvPr>
          <p:cNvSpPr>
            <a:spLocks noGrp="1"/>
          </p:cNvSpPr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000" b="1">
                <a:solidFill>
                  <a:srgbClr val="0D9488"/>
                </a:solidFill>
                <a:latin typeface="Segoe UI"/>
                <a:ea typeface="Segoe UI"/>
                <a:cs typeface="Segoe UI"/>
              </a:defRPr>
            </a:pPr>
            <a:r>
              <a:t>02 | ANALYTICAL CHALLENGE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503EB-D194-471E-8808-BB788FEFCB48}"/>
              </a:ext>
            </a:extLst>
          </p:cNvPr>
          <p:cNvSpPr>
            <a:spLocks noGrp="1"/>
          </p:cNvSpPr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2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t>Core Research Question &amp; Native Granularities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E1F3C5-2B8F-4548-AC79-A5D3459B2621}"/>
              </a:ext>
            </a:extLst>
          </p:cNvPr>
          <p:cNvSpPr>
            <a:spLocks noGrp="1"/>
          </p:cNvSpPr>
          <p:nvPr/>
        </p:nvSpPr>
        <p:spPr>
          <a:xfrm>
            <a:off x="731520" y="120700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A41ED8-2965-4841-8BA3-C1881C887666}"/>
              </a:ext>
            </a:extLst>
          </p:cNvPr>
          <p:cNvSpPr>
            <a:spLocks noGrp="1"/>
          </p:cNvSpPr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E5526-82D2-41E4-AAE7-CF4E9932E16C}"/>
              </a:ext>
            </a:extLst>
          </p:cNvPr>
          <p:cNvSpPr>
            <a:spLocks noGrp="1"/>
          </p:cNvSpPr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Sapienza Università di Roma — Data Management (2025/2026) | Francesco Gallo &amp; Daniele Zito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342D2D-1D12-4160-AF9A-9EFC348EA80E}"/>
              </a:ext>
            </a:extLst>
          </p:cNvPr>
          <p:cNvSpPr>
            <a:spLocks noGrp="1"/>
          </p:cNvSpPr>
          <p:nvPr/>
        </p:nvSpPr>
        <p:spPr>
          <a:xfrm>
            <a:off x="9144000" y="6400800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9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Slide 3 / 12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1645659-0259-47E9-AF76-3C6D06304A18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10728655" cy="11887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1A4952-5655-43CD-A224-CD9DA36F6984}"/>
              </a:ext>
            </a:extLst>
          </p:cNvPr>
          <p:cNvSpPr>
            <a:spLocks noGrp="1"/>
          </p:cNvSpPr>
          <p:nvPr/>
        </p:nvSpPr>
        <p:spPr>
          <a:xfrm>
            <a:off x="1005840" y="1600200"/>
            <a:ext cx="10180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000" b="1">
                <a:solidFill>
                  <a:srgbClr val="1E3A8A"/>
                </a:solidFill>
              </a:defRPr>
            </a:pPr>
            <a:r>
              <a:t>CORE RESEARCH QUESTION</a:t>
            </a:r>
          </a:p>
          <a:p>
            <a:pPr>
              <a:spcBef>
                <a:spcPts val="400"/>
              </a:spcBef>
              <a:buNone/>
              <a:defRPr sz="1300" b="1">
                <a:solidFill>
                  <a:srgbClr val="0F172A"/>
                </a:solidFill>
              </a:defRPr>
            </a:pPr>
            <a:r>
              <a:t>“To what extent, and through what temporal dynamics, do international geopolitical tensions co-vary with consumer energy prices, national import dependencies, and strategic oil stockpiles across European nations?”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29A3F80-6CFF-4DB4-96F0-6CDB8ADF3ECC}"/>
              </a:ext>
            </a:extLst>
          </p:cNvPr>
          <p:cNvSpPr>
            <a:spLocks noGrp="1"/>
          </p:cNvSpPr>
          <p:nvPr/>
        </p:nvSpPr>
        <p:spPr>
          <a:xfrm>
            <a:off x="731520" y="2834640"/>
            <a:ext cx="3429000" cy="32004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518097-2DA6-4EAE-AEAE-AB489F943625}"/>
              </a:ext>
            </a:extLst>
          </p:cNvPr>
          <p:cNvSpPr>
            <a:spLocks noGrp="1"/>
          </p:cNvSpPr>
          <p:nvPr/>
        </p:nvSpPr>
        <p:spPr>
          <a:xfrm>
            <a:off x="960120" y="3017520"/>
            <a:ext cx="2971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200" b="1">
                <a:solidFill>
                  <a:srgbClr val="1E3A8A"/>
                </a:solidFill>
              </a:defRPr>
            </a:pPr>
            <a:r>
              <a:rPr dirty="0"/>
              <a:t>GEOPOLITICAL RISK</a:t>
            </a:r>
          </a:p>
          <a:p>
            <a:pPr>
              <a:spcBef>
                <a:spcPts val="800"/>
              </a:spcBef>
              <a:buNone/>
            </a:pPr>
            <a:r>
              <a:rPr sz="1100" b="1" dirty="0">
                <a:solidFill>
                  <a:srgbClr val="0F172A"/>
                </a:solidFill>
              </a:rPr>
              <a:t>Source: </a:t>
            </a:r>
            <a:r>
              <a:rPr sz="1100" dirty="0">
                <a:solidFill>
                  <a:srgbClr val="334155"/>
                </a:solidFill>
              </a:rPr>
              <a:t>Federal Reserve (Caldara &amp; Iacoviello)</a:t>
            </a:r>
          </a:p>
          <a:p>
            <a:pPr>
              <a:spcBef>
                <a:spcPts val="800"/>
              </a:spcBef>
              <a:buNone/>
            </a:pPr>
            <a:r>
              <a:rPr sz="1100" b="1" dirty="0">
                <a:solidFill>
                  <a:srgbClr val="0F172A"/>
                </a:solidFill>
              </a:rPr>
              <a:t>Native Grain: </a:t>
            </a:r>
            <a:r>
              <a:rPr sz="1100" dirty="0">
                <a:solidFill>
                  <a:srgbClr val="334155"/>
                </a:solidFill>
              </a:rPr>
              <a:t>Monthly (1985–2026)</a:t>
            </a:r>
          </a:p>
          <a:p>
            <a:pPr>
              <a:spcBef>
                <a:spcPts val="800"/>
              </a:spcBef>
              <a:buNone/>
            </a:pPr>
            <a:r>
              <a:rPr sz="1100" b="1" dirty="0">
                <a:solidFill>
                  <a:srgbClr val="0F172A"/>
                </a:solidFill>
              </a:rPr>
              <a:t>Observations: </a:t>
            </a:r>
            <a:r>
              <a:rPr sz="1100" dirty="0">
                <a:solidFill>
                  <a:srgbClr val="334155"/>
                </a:solidFill>
              </a:rPr>
              <a:t>499 monthly global rows</a:t>
            </a:r>
          </a:p>
          <a:p>
            <a:pPr>
              <a:spcBef>
                <a:spcPts val="800"/>
              </a:spcBef>
              <a:buNone/>
            </a:pPr>
            <a:r>
              <a:rPr sz="1100" b="1" dirty="0">
                <a:solidFill>
                  <a:srgbClr val="0F172A"/>
                </a:solidFill>
              </a:rPr>
              <a:t>Nature: </a:t>
            </a:r>
            <a:r>
              <a:rPr sz="1100" dirty="0">
                <a:solidFill>
                  <a:srgbClr val="334155"/>
                </a:solidFill>
              </a:rPr>
              <a:t>Continuous text-mined news threat index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0102F58-9D44-4CAA-9AEF-85FA7802F50A}"/>
              </a:ext>
            </a:extLst>
          </p:cNvPr>
          <p:cNvSpPr>
            <a:spLocks noGrp="1"/>
          </p:cNvSpPr>
          <p:nvPr/>
        </p:nvSpPr>
        <p:spPr>
          <a:xfrm>
            <a:off x="4379976" y="2834640"/>
            <a:ext cx="3429000" cy="32004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049BE-1932-4CFC-B754-F2CD788E7723}"/>
              </a:ext>
            </a:extLst>
          </p:cNvPr>
          <p:cNvSpPr>
            <a:spLocks noGrp="1"/>
          </p:cNvSpPr>
          <p:nvPr/>
        </p:nvSpPr>
        <p:spPr>
          <a:xfrm>
            <a:off x="4608576" y="3017520"/>
            <a:ext cx="2971800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200" b="1">
                <a:solidFill>
                  <a:srgbClr val="1E3A8A"/>
                </a:solidFill>
              </a:defRPr>
            </a:pPr>
            <a:r>
              <a:rPr dirty="0"/>
              <a:t>ENERGY TARIFFS (GAS &amp; </a:t>
            </a:r>
            <a:r>
              <a:rPr lang="it-IT" dirty="0"/>
              <a:t>ELECTRICITY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buNone/>
            </a:pPr>
            <a:r>
              <a:rPr sz="1100" b="1" dirty="0">
                <a:solidFill>
                  <a:srgbClr val="0F172A"/>
                </a:solidFill>
              </a:rPr>
              <a:t>Source: </a:t>
            </a:r>
            <a:r>
              <a:rPr sz="1100" dirty="0">
                <a:solidFill>
                  <a:srgbClr val="334155"/>
                </a:solidFill>
              </a:rPr>
              <a:t>Eurostat (nrg_pc_202..205)</a:t>
            </a:r>
          </a:p>
          <a:p>
            <a:pPr>
              <a:spcBef>
                <a:spcPts val="800"/>
              </a:spcBef>
              <a:buNone/>
            </a:pPr>
            <a:r>
              <a:rPr sz="1100" b="1" dirty="0">
                <a:solidFill>
                  <a:srgbClr val="0F172A"/>
                </a:solidFill>
              </a:rPr>
              <a:t>Native Grain: </a:t>
            </a:r>
            <a:r>
              <a:rPr sz="1100" dirty="0">
                <a:solidFill>
                  <a:srgbClr val="334155"/>
                </a:solidFill>
              </a:rPr>
              <a:t>Half-Yearly (2007–2025)</a:t>
            </a:r>
          </a:p>
          <a:p>
            <a:pPr>
              <a:spcBef>
                <a:spcPts val="800"/>
              </a:spcBef>
              <a:buNone/>
            </a:pPr>
            <a:r>
              <a:rPr sz="1100" b="1" dirty="0">
                <a:solidFill>
                  <a:srgbClr val="0F172A"/>
                </a:solidFill>
              </a:rPr>
              <a:t>Observations: </a:t>
            </a:r>
            <a:r>
              <a:rPr sz="1100" dirty="0">
                <a:solidFill>
                  <a:srgbClr val="334155"/>
                </a:solidFill>
              </a:rPr>
              <a:t>38 semester snapshots per country</a:t>
            </a:r>
          </a:p>
          <a:p>
            <a:pPr>
              <a:spcBef>
                <a:spcPts val="800"/>
              </a:spcBef>
              <a:buNone/>
            </a:pPr>
            <a:r>
              <a:rPr sz="1100" b="1" dirty="0">
                <a:solidFill>
                  <a:srgbClr val="0F172A"/>
                </a:solidFill>
              </a:rPr>
              <a:t>Complexity: </a:t>
            </a:r>
            <a:r>
              <a:rPr sz="1100" dirty="0">
                <a:solidFill>
                  <a:srgbClr val="334155"/>
                </a:solidFill>
              </a:rPr>
              <a:t>Household (D1-D3) &amp; Industrial (I1-I6)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8ED2BCB-3C79-4C38-B935-2F37A37774FC}"/>
              </a:ext>
            </a:extLst>
          </p:cNvPr>
          <p:cNvSpPr>
            <a:spLocks noGrp="1"/>
          </p:cNvSpPr>
          <p:nvPr/>
        </p:nvSpPr>
        <p:spPr>
          <a:xfrm>
            <a:off x="8028432" y="2834640"/>
            <a:ext cx="3429000" cy="32004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446898-FCDB-49A3-A8AA-A37C72AEA87D}"/>
              </a:ext>
            </a:extLst>
          </p:cNvPr>
          <p:cNvSpPr>
            <a:spLocks noGrp="1"/>
          </p:cNvSpPr>
          <p:nvPr/>
        </p:nvSpPr>
        <p:spPr>
          <a:xfrm>
            <a:off x="8257032" y="3017520"/>
            <a:ext cx="2971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200" b="1">
                <a:solidFill>
                  <a:srgbClr val="1E3A8A"/>
                </a:solidFill>
              </a:defRPr>
            </a:pPr>
            <a:r>
              <a:rPr dirty="0"/>
              <a:t>DEPENDENCY &amp; OIL STOCKS</a:t>
            </a:r>
          </a:p>
          <a:p>
            <a:pPr>
              <a:spcBef>
                <a:spcPts val="800"/>
              </a:spcBef>
              <a:buNone/>
            </a:pPr>
            <a:r>
              <a:rPr sz="1100" b="1" dirty="0">
                <a:solidFill>
                  <a:srgbClr val="0F172A"/>
                </a:solidFill>
              </a:rPr>
              <a:t>Sources: </a:t>
            </a:r>
            <a:r>
              <a:rPr sz="1100" dirty="0">
                <a:solidFill>
                  <a:srgbClr val="334155"/>
                </a:solidFill>
              </a:rPr>
              <a:t>Eurostat </a:t>
            </a:r>
            <a:r>
              <a:rPr sz="1100" dirty="0" err="1">
                <a:solidFill>
                  <a:srgbClr val="334155"/>
                </a:solidFill>
              </a:rPr>
              <a:t>nrg_ind_id</a:t>
            </a:r>
            <a:r>
              <a:rPr sz="1100" dirty="0">
                <a:solidFill>
                  <a:srgbClr val="334155"/>
                </a:solidFill>
              </a:rPr>
              <a:t> &amp; </a:t>
            </a:r>
            <a:r>
              <a:rPr sz="1100" dirty="0" err="1">
                <a:solidFill>
                  <a:srgbClr val="334155"/>
                </a:solidFill>
              </a:rPr>
              <a:t>nrg_stk_oem</a:t>
            </a:r>
            <a:endParaRPr sz="1100" dirty="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  <a:buNone/>
            </a:pPr>
            <a:r>
              <a:rPr sz="1100" b="1" dirty="0">
                <a:solidFill>
                  <a:srgbClr val="0F172A"/>
                </a:solidFill>
              </a:rPr>
              <a:t>Native Grains: </a:t>
            </a:r>
            <a:r>
              <a:rPr sz="1100" dirty="0">
                <a:solidFill>
                  <a:srgbClr val="334155"/>
                </a:solidFill>
              </a:rPr>
              <a:t>Annual (Dep.) &amp; Monthly (Stocks)</a:t>
            </a:r>
          </a:p>
          <a:p>
            <a:pPr>
              <a:spcBef>
                <a:spcPts val="800"/>
              </a:spcBef>
              <a:buNone/>
            </a:pPr>
            <a:r>
              <a:rPr sz="1100" b="1" dirty="0">
                <a:solidFill>
                  <a:srgbClr val="0F172A"/>
                </a:solidFill>
              </a:rPr>
              <a:t>Horizons: </a:t>
            </a:r>
            <a:r>
              <a:rPr sz="1100" dirty="0">
                <a:solidFill>
                  <a:srgbClr val="334155"/>
                </a:solidFill>
              </a:rPr>
              <a:t>1990–2024 &amp; 2013–2026</a:t>
            </a:r>
          </a:p>
          <a:p>
            <a:pPr>
              <a:spcBef>
                <a:spcPts val="800"/>
              </a:spcBef>
              <a:buNone/>
            </a:pPr>
            <a:r>
              <a:rPr sz="1100" b="1" dirty="0">
                <a:solidFill>
                  <a:srgbClr val="0F172A"/>
                </a:solidFill>
              </a:rPr>
              <a:t>Key Rule: </a:t>
            </a:r>
            <a:r>
              <a:rPr sz="1100" dirty="0">
                <a:solidFill>
                  <a:srgbClr val="334155"/>
                </a:solidFill>
              </a:rPr>
              <a:t>Stock days semi-additive, rates non-additive</a:t>
            </a:r>
          </a:p>
        </p:txBody>
      </p:sp>
    </p:spTree>
    <p:extLst>
      <p:ext uri="{BB962C8B-B14F-4D97-AF65-F5344CB8AC3E}">
        <p14:creationId xmlns:p14="http://schemas.microsoft.com/office/powerpoint/2010/main" val="1499322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915529-2445-4E24-80F8-26B6707483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FCC221-838F-4880-AFCF-592CA5EAF65D}"/>
              </a:ext>
            </a:extLst>
          </p:cNvPr>
          <p:cNvSpPr>
            <a:spLocks noGrp="1"/>
          </p:cNvSpPr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000" b="1">
                <a:solidFill>
                  <a:srgbClr val="0D9488"/>
                </a:solidFill>
                <a:latin typeface="Segoe UI"/>
                <a:ea typeface="Segoe UI"/>
                <a:cs typeface="Segoe UI"/>
              </a:defRPr>
            </a:pPr>
            <a:r>
              <a:t>03 | CONCEPTUAL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DF5225-91FC-41DC-BE47-85F2D3B2AB5C}"/>
              </a:ext>
            </a:extLst>
          </p:cNvPr>
          <p:cNvSpPr>
            <a:spLocks noGrp="1"/>
          </p:cNvSpPr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2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t>The 4 Dimensional Fact Schemes (DFM)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3BA3FC-8DEB-48FD-A6B2-250C7F28CD53}"/>
              </a:ext>
            </a:extLst>
          </p:cNvPr>
          <p:cNvSpPr>
            <a:spLocks noGrp="1"/>
          </p:cNvSpPr>
          <p:nvPr/>
        </p:nvSpPr>
        <p:spPr>
          <a:xfrm>
            <a:off x="731520" y="120700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724F4E-9BF5-4CE6-A220-838D9F2A42A6}"/>
              </a:ext>
            </a:extLst>
          </p:cNvPr>
          <p:cNvSpPr>
            <a:spLocks noGrp="1"/>
          </p:cNvSpPr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DFB253-2975-40D0-9A6E-CEC994DE5AB5}"/>
              </a:ext>
            </a:extLst>
          </p:cNvPr>
          <p:cNvSpPr>
            <a:spLocks noGrp="1"/>
          </p:cNvSpPr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Sapienza Università di Roma — Data Management (2025/2026) | Francesco Gallo &amp; Daniele Zito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38A076-20F4-47D4-A606-8ABC9D17FCCA}"/>
              </a:ext>
            </a:extLst>
          </p:cNvPr>
          <p:cNvSpPr>
            <a:spLocks noGrp="1"/>
          </p:cNvSpPr>
          <p:nvPr/>
        </p:nvSpPr>
        <p:spPr>
          <a:xfrm>
            <a:off x="9144000" y="6400800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9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Slide 4 / 12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82D384C-A29E-46B2-9564-F274E9905A4A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5242255" cy="2286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860335-EDB3-431B-B5CB-71AA56835A68}"/>
              </a:ext>
            </a:extLst>
          </p:cNvPr>
          <p:cNvSpPr>
            <a:spLocks noGrp="1"/>
          </p:cNvSpPr>
          <p:nvPr/>
        </p:nvSpPr>
        <p:spPr>
          <a:xfrm>
            <a:off x="914400" y="1490472"/>
            <a:ext cx="487649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050" b="1">
                <a:solidFill>
                  <a:srgbClr val="1E3A8A"/>
                </a:solidFill>
                <a:latin typeface="Consolas"/>
                <a:ea typeface="Consolas"/>
                <a:cs typeface="Consolas"/>
              </a:defRPr>
            </a:pPr>
            <a:r>
              <a:t>FACT_GPR (Monthly Grain)</a:t>
            </a:r>
          </a:p>
        </p:txBody>
      </p:sp>
      <p:pic>
        <p:nvPicPr>
          <p:cNvPr id="33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01368"/>
            <a:ext cx="4876495" cy="1828800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E465B05-6A10-411A-98A9-5D9A95EB538D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242255" cy="2286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4B2C20-2966-4812-AEF3-857395104F28}"/>
              </a:ext>
            </a:extLst>
          </p:cNvPr>
          <p:cNvSpPr>
            <a:spLocks noGrp="1"/>
          </p:cNvSpPr>
          <p:nvPr/>
        </p:nvSpPr>
        <p:spPr>
          <a:xfrm>
            <a:off x="6400800" y="1490472"/>
            <a:ext cx="487649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050" b="1">
                <a:solidFill>
                  <a:srgbClr val="1E3A8A"/>
                </a:solidFill>
                <a:latin typeface="Consolas"/>
                <a:ea typeface="Consolas"/>
                <a:cs typeface="Consolas"/>
              </a:defRPr>
            </a:pPr>
            <a:r>
              <a:t>FACT_ENERGY_PRICE (Half-Yearly Grain)</a:t>
            </a:r>
          </a:p>
        </p:txBody>
      </p:sp>
      <p:pic>
        <p:nvPicPr>
          <p:cNvPr id="36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01368"/>
            <a:ext cx="4876495" cy="1828800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3CF0CDC-ACDC-47C3-B5C1-514FF54D2837}"/>
              </a:ext>
            </a:extLst>
          </p:cNvPr>
          <p:cNvSpPr>
            <a:spLocks noGrp="1"/>
          </p:cNvSpPr>
          <p:nvPr/>
        </p:nvSpPr>
        <p:spPr>
          <a:xfrm>
            <a:off x="731520" y="3840480"/>
            <a:ext cx="5242255" cy="2286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246F47-37A1-4B0A-8220-4C38CA5BB0CE}"/>
              </a:ext>
            </a:extLst>
          </p:cNvPr>
          <p:cNvSpPr>
            <a:spLocks noGrp="1"/>
          </p:cNvSpPr>
          <p:nvPr/>
        </p:nvSpPr>
        <p:spPr>
          <a:xfrm>
            <a:off x="914400" y="3913632"/>
            <a:ext cx="487649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050" b="1">
                <a:solidFill>
                  <a:srgbClr val="1E3A8A"/>
                </a:solidFill>
                <a:latin typeface="Consolas"/>
                <a:ea typeface="Consolas"/>
                <a:cs typeface="Consolas"/>
              </a:defRPr>
            </a:pPr>
            <a:r>
              <a:t>FACT_IMPORT_DEPENDENCY (Annual Grain)</a:t>
            </a:r>
          </a:p>
        </p:txBody>
      </p:sp>
      <p:pic>
        <p:nvPicPr>
          <p:cNvPr id="39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24528"/>
            <a:ext cx="4876495" cy="1828800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F4B6BD2-547A-439A-A570-FB3D380B49AB}"/>
              </a:ext>
            </a:extLst>
          </p:cNvPr>
          <p:cNvSpPr>
            <a:spLocks noGrp="1"/>
          </p:cNvSpPr>
          <p:nvPr/>
        </p:nvSpPr>
        <p:spPr>
          <a:xfrm>
            <a:off x="6217920" y="3840480"/>
            <a:ext cx="5242255" cy="2286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FBF46F-9786-4B95-B596-038E8F56FC43}"/>
              </a:ext>
            </a:extLst>
          </p:cNvPr>
          <p:cNvSpPr>
            <a:spLocks noGrp="1"/>
          </p:cNvSpPr>
          <p:nvPr/>
        </p:nvSpPr>
        <p:spPr>
          <a:xfrm>
            <a:off x="6400800" y="3913632"/>
            <a:ext cx="487649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050" b="1">
                <a:solidFill>
                  <a:srgbClr val="1E3A8A"/>
                </a:solidFill>
                <a:latin typeface="Consolas"/>
                <a:ea typeface="Consolas"/>
                <a:cs typeface="Consolas"/>
              </a:defRPr>
            </a:pPr>
            <a:r>
              <a:t>FACT_OIL_STOCKS (Monthly Grain)</a:t>
            </a:r>
          </a:p>
        </p:txBody>
      </p:sp>
      <p:pic>
        <p:nvPicPr>
          <p:cNvPr id="42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224528"/>
            <a:ext cx="487649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95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8AE5D6-BA63-4300-84C0-94AF6D57185C}"/>
              </a:ext>
            </a:extLst>
          </p:cNvPr>
          <p:cNvSpPr>
            <a:spLocks noGrp="1"/>
          </p:cNvSpPr>
          <p:nvPr/>
        </p:nvSpPr>
        <p:spPr>
          <a:xfrm>
            <a:off x="0" y="36576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E312E-6068-4893-B621-5A281EC12C88}"/>
              </a:ext>
            </a:extLst>
          </p:cNvPr>
          <p:cNvSpPr>
            <a:spLocks noGrp="1"/>
          </p:cNvSpPr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000" b="1">
                <a:solidFill>
                  <a:srgbClr val="0D9488"/>
                </a:solidFill>
                <a:latin typeface="Segoe UI"/>
                <a:ea typeface="Segoe UI"/>
                <a:cs typeface="Segoe UI"/>
              </a:defRPr>
            </a:pPr>
            <a:r>
              <a:t>04 | THEORETICAL FOUNDATION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56F46B-35AE-42E2-BB6E-03D418983638}"/>
              </a:ext>
            </a:extLst>
          </p:cNvPr>
          <p:cNvSpPr>
            <a:spLocks noGrp="1"/>
          </p:cNvSpPr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2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t>Formal Algebra of Measures: Inmon and Dimensional Modeling Principles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B33091-0062-48CD-939B-D0A257E5F276}"/>
              </a:ext>
            </a:extLst>
          </p:cNvPr>
          <p:cNvSpPr>
            <a:spLocks noGrp="1"/>
          </p:cNvSpPr>
          <p:nvPr/>
        </p:nvSpPr>
        <p:spPr>
          <a:xfrm>
            <a:off x="731520" y="120700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E5A57F-A780-45D8-8E16-F297E7AF2E97}"/>
              </a:ext>
            </a:extLst>
          </p:cNvPr>
          <p:cNvSpPr>
            <a:spLocks noGrp="1"/>
          </p:cNvSpPr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CDD50-EDDB-472C-9A4F-731C987FE655}"/>
              </a:ext>
            </a:extLst>
          </p:cNvPr>
          <p:cNvSpPr>
            <a:spLocks noGrp="1"/>
          </p:cNvSpPr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Sapienza Università di Roma — Data Management (2025/2026) | Francesco Gallo &amp; Daniele Zito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63D9B3-19BB-4421-9826-0EF340D5184C}"/>
              </a:ext>
            </a:extLst>
          </p:cNvPr>
          <p:cNvSpPr>
            <a:spLocks noGrp="1"/>
          </p:cNvSpPr>
          <p:nvPr/>
        </p:nvSpPr>
        <p:spPr>
          <a:xfrm>
            <a:off x="9144000" y="6400800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9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Slide 5 / 12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A46DEC4-1DE1-4E02-845C-0D94FF450CB1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10728655" cy="141732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571B7B-8DB5-43A2-8F96-62D4C936A923}"/>
              </a:ext>
            </a:extLst>
          </p:cNvPr>
          <p:cNvSpPr>
            <a:spLocks noGrp="1"/>
          </p:cNvSpPr>
          <p:nvPr/>
        </p:nvSpPr>
        <p:spPr>
          <a:xfrm>
            <a:off x="1005840" y="1600200"/>
            <a:ext cx="10180015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200" b="1">
                <a:solidFill>
                  <a:srgbClr val="B91C1C"/>
                </a:solidFill>
              </a:defRPr>
            </a:pPr>
            <a:r>
              <a:rPr sz="1400" dirty="0"/>
              <a:t>1. NON-ADDITIVE MEASURES (UNIT / RATIO QUANTITIES) — SUM IS STRICTLY PROHIBITED</a:t>
            </a:r>
          </a:p>
          <a:p>
            <a:pPr>
              <a:spcBef>
                <a:spcPts val="400"/>
              </a:spcBef>
              <a:buNone/>
              <a:defRPr sz="1100">
                <a:solidFill>
                  <a:srgbClr val="334155"/>
                </a:solidFill>
              </a:defRPr>
            </a:pPr>
            <a:r>
              <a:rPr sz="1200" dirty="0"/>
              <a:t>• Applies to: Retail electricity &amp; gas prices (€/kWh), Energy Import Dependency Rate (%), Geopolitical Risk Index (GPR).</a:t>
            </a:r>
            <a:br>
              <a:rPr sz="1200" dirty="0"/>
            </a:br>
            <a:r>
              <a:rPr sz="1200" dirty="0"/>
              <a:t>• Theoretical Rule: Summing unit prices over semesters or summing percentage rates across nations produces no</a:t>
            </a:r>
            <a:r>
              <a:rPr lang="it-IT" sz="1200" dirty="0"/>
              <a:t>t </a:t>
            </a:r>
            <a:r>
              <a:rPr lang="it-IT" sz="1200" dirty="0" err="1"/>
              <a:t>relevant</a:t>
            </a:r>
            <a:r>
              <a:rPr sz="1200" dirty="0"/>
              <a:t> values.</a:t>
            </a:r>
            <a:br>
              <a:rPr sz="1200" dirty="0"/>
            </a:br>
            <a:r>
              <a:rPr sz="1200" dirty="0"/>
              <a:t>• Permitted Operations: Only statistical aggregations (AVG, MIN, MAX) or re-computation as ratio of underlying sums (</a:t>
            </a:r>
            <a:r>
              <a:rPr sz="1200" dirty="0" err="1"/>
              <a:t>Σ</a:t>
            </a:r>
            <a:r>
              <a:rPr sz="1200" dirty="0"/>
              <a:t> revenue / </a:t>
            </a:r>
            <a:r>
              <a:rPr sz="1200" dirty="0" err="1"/>
              <a:t>Σ</a:t>
            </a:r>
            <a:r>
              <a:rPr sz="1200" dirty="0"/>
              <a:t> volume).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8693B2C-B9D9-4171-A402-06531E644A04}"/>
              </a:ext>
            </a:extLst>
          </p:cNvPr>
          <p:cNvSpPr>
            <a:spLocks noGrp="1"/>
          </p:cNvSpPr>
          <p:nvPr/>
        </p:nvSpPr>
        <p:spPr>
          <a:xfrm>
            <a:off x="731520" y="3044952"/>
            <a:ext cx="10728655" cy="14173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4FACBC-4C18-43D9-8315-4A78748207D3}"/>
              </a:ext>
            </a:extLst>
          </p:cNvPr>
          <p:cNvSpPr>
            <a:spLocks noGrp="1"/>
          </p:cNvSpPr>
          <p:nvPr/>
        </p:nvSpPr>
        <p:spPr>
          <a:xfrm>
            <a:off x="1005840" y="3182112"/>
            <a:ext cx="10180015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200" b="1">
                <a:solidFill>
                  <a:srgbClr val="D97706"/>
                </a:solidFill>
              </a:defRPr>
            </a:pPr>
            <a:r>
              <a:rPr sz="1400" dirty="0"/>
              <a:t>2. SEMI-ADDITIVE MEASURES (STOCK / LEVEL QUANTITIES) — ADDITIVE ACROSS SPACE, NEVER ACROSS TIME</a:t>
            </a:r>
          </a:p>
          <a:p>
            <a:pPr>
              <a:spcBef>
                <a:spcPts val="400"/>
              </a:spcBef>
              <a:buNone/>
              <a:defRPr sz="1100">
                <a:solidFill>
                  <a:srgbClr val="334155"/>
                </a:solidFill>
              </a:defRPr>
            </a:pPr>
            <a:r>
              <a:rPr sz="1200" dirty="0"/>
              <a:t>• Applies to: Emergency Oil Stocks autonomy (days) and physical reserves (kt) in FACT_OIL_STOCKS.</a:t>
            </a:r>
            <a:br>
              <a:rPr sz="1200" dirty="0"/>
            </a:br>
            <a:r>
              <a:rPr sz="1200" dirty="0"/>
              <a:t>• Theoretical Rule: Reserves can be summed across member states to obtain the total EU buffer, but summing over 12 months is an exam trap.</a:t>
            </a:r>
            <a:br>
              <a:rPr sz="1200" dirty="0"/>
            </a:br>
            <a:r>
              <a:rPr sz="1200" dirty="0"/>
              <a:t>• Permitted Operations: Over time, only annual averages (AVG), year-end closing levels (LAST), or stress-test minimums (MIN) are mathematically sound.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ABBD622-8982-4987-966D-77446F0CF113}"/>
              </a:ext>
            </a:extLst>
          </p:cNvPr>
          <p:cNvSpPr>
            <a:spLocks noGrp="1"/>
          </p:cNvSpPr>
          <p:nvPr/>
        </p:nvSpPr>
        <p:spPr>
          <a:xfrm>
            <a:off x="731520" y="4626864"/>
            <a:ext cx="10728655" cy="141732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361BF-D305-47AC-AA47-CC1A75326515}"/>
              </a:ext>
            </a:extLst>
          </p:cNvPr>
          <p:cNvSpPr>
            <a:spLocks noGrp="1"/>
          </p:cNvSpPr>
          <p:nvPr/>
        </p:nvSpPr>
        <p:spPr>
          <a:xfrm>
            <a:off x="1005840" y="4764024"/>
            <a:ext cx="10180015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200" b="1">
                <a:solidFill>
                  <a:srgbClr val="0D9488"/>
                </a:solidFill>
              </a:defRPr>
            </a:pPr>
            <a:r>
              <a:rPr sz="1600" dirty="0"/>
              <a:t>3. ADDITIVE MEASURES (FLOW QUANTITIES) — UNRESTRICTED SUMMABILITY</a:t>
            </a:r>
          </a:p>
          <a:p>
            <a:pPr>
              <a:spcBef>
                <a:spcPts val="400"/>
              </a:spcBef>
              <a:buNone/>
              <a:defRPr sz="1100">
                <a:solidFill>
                  <a:srgbClr val="334155"/>
                </a:solidFill>
              </a:defRPr>
            </a:pPr>
            <a:r>
              <a:rPr sz="1400" dirty="0"/>
              <a:t>• Applies to: Absolute net imports, physical consumption gigajoules, and total financial revenues.</a:t>
            </a:r>
            <a:br>
              <a:rPr sz="1400" dirty="0"/>
            </a:br>
            <a:r>
              <a:rPr sz="1400" dirty="0"/>
              <a:t>• Theoretical Rule: Fully additive across all spatial, temporal, and categorical dimensions using standard SUM operators.</a:t>
            </a:r>
          </a:p>
        </p:txBody>
      </p:sp>
    </p:spTree>
    <p:extLst>
      <p:ext uri="{BB962C8B-B14F-4D97-AF65-F5344CB8AC3E}">
        <p14:creationId xmlns:p14="http://schemas.microsoft.com/office/powerpoint/2010/main" val="26680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8E5006-C260-4C40-AA3E-444BDABD38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DDBA56-B5B0-4DDA-8BD1-FC8A1996D876}"/>
              </a:ext>
            </a:extLst>
          </p:cNvPr>
          <p:cNvSpPr>
            <a:spLocks noGrp="1"/>
          </p:cNvSpPr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000" b="1">
                <a:solidFill>
                  <a:srgbClr val="0D9488"/>
                </a:solidFill>
                <a:latin typeface="Segoe UI"/>
                <a:ea typeface="Segoe UI"/>
                <a:cs typeface="Segoe UI"/>
              </a:defRPr>
            </a:pPr>
            <a:r>
              <a:t>05 | LOGICAL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0A41F6-8C02-4328-B66F-C47A0CEED94C}"/>
              </a:ext>
            </a:extLst>
          </p:cNvPr>
          <p:cNvSpPr>
            <a:spLocks noGrp="1"/>
          </p:cNvSpPr>
          <p:nvPr/>
        </p:nvSpPr>
        <p:spPr>
          <a:xfrm>
            <a:off x="731520" y="621792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2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rPr dirty="0"/>
              <a:t>Planar Fact Constellation Schema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7D50E-FC2B-49F1-B880-A57388ED5E58}"/>
              </a:ext>
            </a:extLst>
          </p:cNvPr>
          <p:cNvSpPr>
            <a:spLocks noGrp="1"/>
          </p:cNvSpPr>
          <p:nvPr/>
        </p:nvSpPr>
        <p:spPr>
          <a:xfrm>
            <a:off x="731520" y="120700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8A469-8F3B-4BCF-9216-C5F295727403}"/>
              </a:ext>
            </a:extLst>
          </p:cNvPr>
          <p:cNvSpPr>
            <a:spLocks noGrp="1"/>
          </p:cNvSpPr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315950-6751-4BF3-AAE7-DDCBD4636A22}"/>
              </a:ext>
            </a:extLst>
          </p:cNvPr>
          <p:cNvSpPr>
            <a:spLocks noGrp="1"/>
          </p:cNvSpPr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Sapienza Università di Roma — Data Management (2025/2026) | Francesco Gallo &amp; Daniele Zito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860018-5552-4164-A7C4-CD9C56DC3B7C}"/>
              </a:ext>
            </a:extLst>
          </p:cNvPr>
          <p:cNvSpPr>
            <a:spLocks noGrp="1"/>
          </p:cNvSpPr>
          <p:nvPr/>
        </p:nvSpPr>
        <p:spPr>
          <a:xfrm>
            <a:off x="9144000" y="6400800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9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Slide 6 / 12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DD046D0-5CA3-4885-BFCA-7D441E29641D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C0C6A-BCBD-411C-B686-364A066CA381}"/>
              </a:ext>
            </a:extLst>
          </p:cNvPr>
          <p:cNvSpPr>
            <a:spLocks noGrp="1"/>
          </p:cNvSpPr>
          <p:nvPr/>
        </p:nvSpPr>
        <p:spPr>
          <a:xfrm>
            <a:off x="914400" y="1645920"/>
            <a:ext cx="292608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400" b="1">
                <a:solidFill>
                  <a:srgbClr val="0F172A"/>
                </a:solidFill>
              </a:defRPr>
            </a:pPr>
            <a:r>
              <a:rPr dirty="0"/>
              <a:t>Architecture Rationale</a:t>
            </a:r>
          </a:p>
          <a:p>
            <a:pPr>
              <a:spcBef>
                <a:spcPts val="1000"/>
              </a:spcBef>
              <a:buNone/>
            </a:pPr>
            <a:r>
              <a:rPr sz="1600" b="1" dirty="0">
                <a:solidFill>
                  <a:srgbClr val="1E3A8A"/>
                </a:solidFill>
              </a:rPr>
              <a:t>• Why Fact Constellation? </a:t>
            </a:r>
            <a:r>
              <a:rPr sz="1600" dirty="0">
                <a:solidFill>
                  <a:srgbClr val="334155"/>
                </a:solidFill>
              </a:rPr>
              <a:t>A single Star Schema would force either artificial replication of annual data or destructive pre-aggregation of monthly risk.</a:t>
            </a:r>
          </a:p>
          <a:p>
            <a:pPr>
              <a:spcBef>
                <a:spcPts val="1000"/>
              </a:spcBef>
              <a:buNone/>
            </a:pPr>
            <a:r>
              <a:rPr sz="1600" b="1" dirty="0">
                <a:solidFill>
                  <a:srgbClr val="1E3A8A"/>
                </a:solidFill>
              </a:rPr>
              <a:t>• Conformed Dimensions: </a:t>
            </a:r>
            <a:r>
              <a:rPr sz="1600" dirty="0">
                <a:solidFill>
                  <a:srgbClr val="334155"/>
                </a:solidFill>
              </a:rPr>
              <a:t>Unified DIM_GEO_ENTITY enables cross-fact drill-across.</a:t>
            </a:r>
          </a:p>
          <a:p>
            <a:pPr>
              <a:spcBef>
                <a:spcPts val="1000"/>
              </a:spcBef>
              <a:buNone/>
            </a:pPr>
            <a:r>
              <a:rPr sz="1600" b="1" dirty="0">
                <a:solidFill>
                  <a:srgbClr val="1E3A8A"/>
                </a:solidFill>
              </a:rPr>
              <a:t>• Surrogate Keys: </a:t>
            </a:r>
            <a:r>
              <a:rPr sz="1600" dirty="0">
                <a:solidFill>
                  <a:srgbClr val="334155"/>
                </a:solidFill>
              </a:rPr>
              <a:t>Every dimension uses integer surrogate keys for maximum join efficiency, completely decoupled from source IDs.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C231D78-6F48-478C-8B0F-DB1B02D71CAF}"/>
              </a:ext>
            </a:extLst>
          </p:cNvPr>
          <p:cNvSpPr>
            <a:spLocks noGrp="1"/>
          </p:cNvSpPr>
          <p:nvPr/>
        </p:nvSpPr>
        <p:spPr>
          <a:xfrm>
            <a:off x="4206240" y="1463040"/>
            <a:ext cx="7253935" cy="457200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2491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D686DE-1E9F-4D07-BE69-5583F12C9E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7E301-FB9B-48B9-A01D-C87101881D37}"/>
              </a:ext>
            </a:extLst>
          </p:cNvPr>
          <p:cNvSpPr>
            <a:spLocks noGrp="1"/>
          </p:cNvSpPr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000" b="1">
                <a:solidFill>
                  <a:srgbClr val="0D9488"/>
                </a:solidFill>
                <a:latin typeface="Segoe UI"/>
                <a:ea typeface="Segoe UI"/>
                <a:cs typeface="Segoe UI"/>
              </a:defRPr>
            </a:pPr>
            <a:r>
              <a:t>06 | HISTORICAL MODELING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2799EA-A78C-4BC4-B639-0F4B1B840BAA}"/>
              </a:ext>
            </a:extLst>
          </p:cNvPr>
          <p:cNvSpPr>
            <a:spLocks noGrp="1"/>
          </p:cNvSpPr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2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t>Handling Boundary Evolution: Dynamic EU Membership Bridge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082D06-D66F-4C06-9DED-AC13EDBDEBA0}"/>
              </a:ext>
            </a:extLst>
          </p:cNvPr>
          <p:cNvSpPr>
            <a:spLocks noGrp="1"/>
          </p:cNvSpPr>
          <p:nvPr/>
        </p:nvSpPr>
        <p:spPr>
          <a:xfrm>
            <a:off x="731520" y="120700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A57D98-5A51-4AB9-9F33-1C760EDF04CA}"/>
              </a:ext>
            </a:extLst>
          </p:cNvPr>
          <p:cNvSpPr>
            <a:spLocks noGrp="1"/>
          </p:cNvSpPr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3E2D5-F8E3-4876-AC2B-7BFE28D3385A}"/>
              </a:ext>
            </a:extLst>
          </p:cNvPr>
          <p:cNvSpPr>
            <a:spLocks noGrp="1"/>
          </p:cNvSpPr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Sapienza Università di Roma — Data Management (2025/2026) | Francesco Gallo &amp; Daniele Zito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DEB5C4-4560-4FD0-A4F1-7B591A12624B}"/>
              </a:ext>
            </a:extLst>
          </p:cNvPr>
          <p:cNvSpPr>
            <a:spLocks noGrp="1"/>
          </p:cNvSpPr>
          <p:nvPr/>
        </p:nvSpPr>
        <p:spPr>
          <a:xfrm>
            <a:off x="9144000" y="6400800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9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Slide 7 / 12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4C0CE8C-CF49-4FB5-B51E-27E058408FCA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66FD7E-988B-4B38-85F3-B2DF3D7F60F3}"/>
              </a:ext>
            </a:extLst>
          </p:cNvPr>
          <p:cNvSpPr>
            <a:spLocks noGrp="1"/>
          </p:cNvSpPr>
          <p:nvPr/>
        </p:nvSpPr>
        <p:spPr>
          <a:xfrm>
            <a:off x="1005840" y="1645920"/>
            <a:ext cx="46634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400" b="1">
                <a:solidFill>
                  <a:srgbClr val="B91C1C"/>
                </a:solidFill>
              </a:defRPr>
            </a:pPr>
            <a:r>
              <a:rPr sz="1400" dirty="0"/>
              <a:t>The Static Attribute Trap</a:t>
            </a:r>
          </a:p>
          <a:p>
            <a:pPr>
              <a:spcBef>
                <a:spcPts val="1200"/>
              </a:spcBef>
              <a:buNone/>
            </a:pPr>
            <a:r>
              <a:rPr b="1" dirty="0">
                <a:solidFill>
                  <a:srgbClr val="0F172A"/>
                </a:solidFill>
              </a:rPr>
              <a:t>• Changing Borders: </a:t>
            </a:r>
            <a:r>
              <a:rPr dirty="0">
                <a:solidFill>
                  <a:srgbClr val="334155"/>
                </a:solidFill>
              </a:rPr>
              <a:t>The EU is not a static set of nations. It expanded to 28 members (Croatia in 2013) and shrank with Brexit (UK exit in 2020).</a:t>
            </a:r>
          </a:p>
          <a:p>
            <a:pPr>
              <a:spcBef>
                <a:spcPts val="1200"/>
              </a:spcBef>
              <a:buNone/>
            </a:pPr>
            <a:r>
              <a:rPr b="1" dirty="0">
                <a:solidFill>
                  <a:srgbClr val="0F172A"/>
                </a:solidFill>
              </a:rPr>
              <a:t>• SCD Type 1 Flaw: </a:t>
            </a:r>
            <a:r>
              <a:rPr dirty="0">
                <a:solidFill>
                  <a:srgbClr val="334155"/>
                </a:solidFill>
              </a:rPr>
              <a:t>Storing a simple </a:t>
            </a:r>
            <a:r>
              <a:rPr dirty="0" err="1">
                <a:solidFill>
                  <a:srgbClr val="334155"/>
                </a:solidFill>
              </a:rPr>
              <a:t>boolean</a:t>
            </a:r>
            <a:r>
              <a:rPr dirty="0">
                <a:solidFill>
                  <a:srgbClr val="334155"/>
                </a:solidFill>
              </a:rPr>
              <a:t> flag '</a:t>
            </a:r>
            <a:r>
              <a:rPr dirty="0" err="1">
                <a:solidFill>
                  <a:srgbClr val="334155"/>
                </a:solidFill>
              </a:rPr>
              <a:t>is_eu_member</a:t>
            </a:r>
            <a:r>
              <a:rPr dirty="0">
                <a:solidFill>
                  <a:srgbClr val="334155"/>
                </a:solidFill>
              </a:rPr>
              <a:t>' in DIM_GEO_ENTITY would either incorrectly </a:t>
            </a:r>
            <a:r>
              <a:rPr dirty="0" err="1">
                <a:solidFill>
                  <a:srgbClr val="334155"/>
                </a:solidFill>
              </a:rPr>
              <a:t>retrodate</a:t>
            </a:r>
            <a:r>
              <a:rPr dirty="0">
                <a:solidFill>
                  <a:srgbClr val="334155"/>
                </a:solidFill>
              </a:rPr>
              <a:t> Brexit to 2010 or falsely include the UK in 2024.</a:t>
            </a:r>
          </a:p>
          <a:p>
            <a:pPr>
              <a:spcBef>
                <a:spcPts val="1200"/>
              </a:spcBef>
              <a:buNone/>
            </a:pPr>
            <a:r>
              <a:rPr b="1" dirty="0">
                <a:solidFill>
                  <a:srgbClr val="0F172A"/>
                </a:solidFill>
              </a:rPr>
              <a:t>• Analytical Bias: </a:t>
            </a:r>
            <a:r>
              <a:rPr dirty="0">
                <a:solidFill>
                  <a:srgbClr val="334155"/>
                </a:solidFill>
              </a:rPr>
              <a:t>Comparing historical EU totals across decades requires tracking the exact legal composition of the union year by year.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5B9A50E-B2D6-4DA7-8EEF-11864328BE20}"/>
              </a:ext>
            </a:extLst>
          </p:cNvPr>
          <p:cNvSpPr>
            <a:spLocks noGrp="1"/>
          </p:cNvSpPr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F20031-D008-4E7E-861D-719DF0F1376E}"/>
              </a:ext>
            </a:extLst>
          </p:cNvPr>
          <p:cNvSpPr>
            <a:spLocks noGrp="1"/>
          </p:cNvSpPr>
          <p:nvPr/>
        </p:nvSpPr>
        <p:spPr>
          <a:xfrm>
            <a:off x="6492240" y="1645920"/>
            <a:ext cx="4693615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400" b="1">
                <a:solidFill>
                  <a:srgbClr val="0D9488"/>
                </a:solidFill>
              </a:defRPr>
            </a:pPr>
            <a:r>
              <a:rPr sz="1600" dirty="0"/>
              <a:t>The Temporal Bridge: BR_GEO_EU_MEMBERSHIP</a:t>
            </a:r>
          </a:p>
          <a:p>
            <a:pPr>
              <a:spcBef>
                <a:spcPts val="12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Bridge Structure: </a:t>
            </a:r>
            <a:r>
              <a:rPr sz="1600" dirty="0">
                <a:solidFill>
                  <a:srgbClr val="334155"/>
                </a:solidFill>
              </a:rPr>
              <a:t>A dedicated associative table: (</a:t>
            </a:r>
            <a:r>
              <a:rPr sz="1600" dirty="0" err="1">
                <a:solidFill>
                  <a:srgbClr val="334155"/>
                </a:solidFill>
              </a:rPr>
              <a:t>geo_sk</a:t>
            </a:r>
            <a:r>
              <a:rPr sz="1600" dirty="0">
                <a:solidFill>
                  <a:srgbClr val="334155"/>
                </a:solidFill>
              </a:rPr>
              <a:t>, </a:t>
            </a:r>
            <a:r>
              <a:rPr sz="1600" dirty="0" err="1">
                <a:solidFill>
                  <a:srgbClr val="334155"/>
                </a:solidFill>
              </a:rPr>
              <a:t>year_sk</a:t>
            </a:r>
            <a:r>
              <a:rPr sz="1600" dirty="0">
                <a:solidFill>
                  <a:srgbClr val="334155"/>
                </a:solidFill>
              </a:rPr>
              <a:t>, </a:t>
            </a:r>
            <a:r>
              <a:rPr sz="1600" dirty="0" err="1">
                <a:solidFill>
                  <a:srgbClr val="334155"/>
                </a:solidFill>
              </a:rPr>
              <a:t>is_member</a:t>
            </a:r>
            <a:r>
              <a:rPr sz="1600" dirty="0">
                <a:solidFill>
                  <a:srgbClr val="334155"/>
                </a:solidFill>
              </a:rPr>
              <a:t>, </a:t>
            </a:r>
            <a:r>
              <a:rPr sz="1600" dirty="0" err="1">
                <a:solidFill>
                  <a:srgbClr val="334155"/>
                </a:solidFill>
              </a:rPr>
              <a:t>accession_year</a:t>
            </a:r>
            <a:r>
              <a:rPr sz="1600" dirty="0">
                <a:solidFill>
                  <a:srgbClr val="334155"/>
                </a:solidFill>
              </a:rPr>
              <a:t>, </a:t>
            </a:r>
            <a:r>
              <a:rPr sz="1600" dirty="0" err="1">
                <a:solidFill>
                  <a:srgbClr val="334155"/>
                </a:solidFill>
              </a:rPr>
              <a:t>exit_year</a:t>
            </a:r>
            <a:r>
              <a:rPr sz="1600" dirty="0">
                <a:solidFill>
                  <a:srgbClr val="334155"/>
                </a:solidFill>
              </a:rPr>
              <a:t>).</a:t>
            </a:r>
          </a:p>
          <a:p>
            <a:pPr>
              <a:spcBef>
                <a:spcPts val="12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Dual Query Capability: </a:t>
            </a:r>
            <a:r>
              <a:rPr sz="1600" dirty="0">
                <a:solidFill>
                  <a:srgbClr val="334155"/>
                </a:solidFill>
              </a:rPr>
              <a:t>Analysts can query either the 'EU composition as it was in year T' or the 'constant EU-27 cohort' over time.</a:t>
            </a:r>
          </a:p>
          <a:p>
            <a:pPr>
              <a:spcBef>
                <a:spcPts val="12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Example — United Kingdom: </a:t>
            </a:r>
            <a:r>
              <a:rPr sz="1600" dirty="0" err="1">
                <a:solidFill>
                  <a:srgbClr val="334155"/>
                </a:solidFill>
              </a:rPr>
              <a:t>is_member</a:t>
            </a:r>
            <a:r>
              <a:rPr sz="1600" dirty="0">
                <a:solidFill>
                  <a:srgbClr val="334155"/>
                </a:solidFill>
              </a:rPr>
              <a:t> = TRUE for all </a:t>
            </a:r>
            <a:r>
              <a:rPr sz="1600" dirty="0" err="1">
                <a:solidFill>
                  <a:srgbClr val="334155"/>
                </a:solidFill>
              </a:rPr>
              <a:t>year_sk</a:t>
            </a:r>
            <a:r>
              <a:rPr sz="1600" dirty="0">
                <a:solidFill>
                  <a:srgbClr val="334155"/>
                </a:solidFill>
              </a:rPr>
              <a:t> &lt;= 2019; </a:t>
            </a:r>
            <a:r>
              <a:rPr sz="1600" dirty="0" err="1">
                <a:solidFill>
                  <a:srgbClr val="334155"/>
                </a:solidFill>
              </a:rPr>
              <a:t>is_member</a:t>
            </a:r>
            <a:r>
              <a:rPr sz="1600" dirty="0">
                <a:solidFill>
                  <a:srgbClr val="334155"/>
                </a:solidFill>
              </a:rPr>
              <a:t> = FALSE from 2020</a:t>
            </a:r>
            <a:r>
              <a:rPr lang="it-IT" sz="1600" dirty="0">
                <a:solidFill>
                  <a:srgbClr val="334155"/>
                </a:solidFill>
              </a:rPr>
              <a:t>.</a:t>
            </a:r>
            <a:endParaRPr sz="1600" dirty="0">
              <a:solidFill>
                <a:srgbClr val="334155"/>
              </a:solidFill>
            </a:endParaRPr>
          </a:p>
          <a:p>
            <a:pPr>
              <a:spcBef>
                <a:spcPts val="12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Zero Cartesian Explosion: </a:t>
            </a:r>
            <a:r>
              <a:rPr sz="1600" dirty="0">
                <a:solidFill>
                  <a:srgbClr val="334155"/>
                </a:solidFill>
              </a:rPr>
              <a:t>Joins directly with fact tables on conformed (</a:t>
            </a:r>
            <a:r>
              <a:rPr sz="1600" dirty="0" err="1">
                <a:solidFill>
                  <a:srgbClr val="334155"/>
                </a:solidFill>
              </a:rPr>
              <a:t>geo_sk</a:t>
            </a:r>
            <a:r>
              <a:rPr sz="1600" dirty="0">
                <a:solidFill>
                  <a:srgbClr val="334155"/>
                </a:solidFill>
              </a:rPr>
              <a:t>, </a:t>
            </a:r>
            <a:r>
              <a:rPr sz="1600" dirty="0" err="1">
                <a:solidFill>
                  <a:srgbClr val="334155"/>
                </a:solidFill>
              </a:rPr>
              <a:t>year_sk</a:t>
            </a:r>
            <a:r>
              <a:rPr sz="1600" dirty="0">
                <a:solidFill>
                  <a:srgbClr val="334155"/>
                </a:solidFill>
              </a:rPr>
              <a:t>) keys without multiplying measure rows.</a:t>
            </a:r>
          </a:p>
        </p:txBody>
      </p:sp>
    </p:spTree>
    <p:extLst>
      <p:ext uri="{BB962C8B-B14F-4D97-AF65-F5344CB8AC3E}">
        <p14:creationId xmlns:p14="http://schemas.microsoft.com/office/powerpoint/2010/main" val="2132254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92280A-A9B2-436C-BC90-3333D4C85889}"/>
              </a:ext>
            </a:extLst>
          </p:cNvPr>
          <p:cNvSpPr>
            <a:spLocks noGrp="1"/>
          </p:cNvSpPr>
          <p:nvPr/>
        </p:nvSpPr>
        <p:spPr>
          <a:xfrm>
            <a:off x="0" y="330687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FB92EA-9846-4CAB-91BB-907C6AC5C526}"/>
              </a:ext>
            </a:extLst>
          </p:cNvPr>
          <p:cNvSpPr>
            <a:spLocks noGrp="1"/>
          </p:cNvSpPr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000" b="1">
                <a:solidFill>
                  <a:srgbClr val="0D9488"/>
                </a:solidFill>
                <a:latin typeface="Segoe UI"/>
                <a:ea typeface="Segoe UI"/>
                <a:cs typeface="Segoe UI"/>
              </a:defRPr>
            </a:pPr>
            <a:r>
              <a:t>07 | INGESTION &amp; AUTOMATION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3E2255-F71E-414A-89C2-CDD87A061F51}"/>
              </a:ext>
            </a:extLst>
          </p:cNvPr>
          <p:cNvSpPr>
            <a:spLocks noGrp="1"/>
          </p:cNvSpPr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2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t>Production ETL Pipeline &amp; 12 Automated Integrity Checks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9E7475-2712-40B1-8D34-238EA36C2AC9}"/>
              </a:ext>
            </a:extLst>
          </p:cNvPr>
          <p:cNvSpPr>
            <a:spLocks noGrp="1"/>
          </p:cNvSpPr>
          <p:nvPr/>
        </p:nvSpPr>
        <p:spPr>
          <a:xfrm>
            <a:off x="731520" y="120700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065C16-5A27-40B9-A1D8-3BF98A1E0061}"/>
              </a:ext>
            </a:extLst>
          </p:cNvPr>
          <p:cNvSpPr>
            <a:spLocks noGrp="1"/>
          </p:cNvSpPr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C947F-0326-48A9-9ABF-9FB08F0D99AF}"/>
              </a:ext>
            </a:extLst>
          </p:cNvPr>
          <p:cNvSpPr>
            <a:spLocks noGrp="1"/>
          </p:cNvSpPr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Sapienza Università di Roma — Data Management (2025/2026) | Francesco Gallo &amp; Daniele Zito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E3818-3C9A-44C0-8298-A491335C4B99}"/>
              </a:ext>
            </a:extLst>
          </p:cNvPr>
          <p:cNvSpPr>
            <a:spLocks noGrp="1"/>
          </p:cNvSpPr>
          <p:nvPr/>
        </p:nvSpPr>
        <p:spPr>
          <a:xfrm>
            <a:off x="9144000" y="6400800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9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Slide 8 / 12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5C2D126-A902-4D93-8255-4F55C91F1B82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79A16C-3E6D-43A9-93C5-43311913D355}"/>
              </a:ext>
            </a:extLst>
          </p:cNvPr>
          <p:cNvSpPr>
            <a:spLocks noGrp="1"/>
          </p:cNvSpPr>
          <p:nvPr/>
        </p:nvSpPr>
        <p:spPr>
          <a:xfrm>
            <a:off x="914400" y="1645920"/>
            <a:ext cx="3063240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200" b="1">
                <a:solidFill>
                  <a:srgbClr val="1E3A8A"/>
                </a:solidFill>
              </a:defRPr>
            </a:pPr>
            <a:r>
              <a:rPr sz="1600" dirty="0"/>
              <a:t>7 MODULAR LOADERS</a:t>
            </a:r>
          </a:p>
          <a:p>
            <a:pPr>
              <a:spcBef>
                <a:spcPts val="1000"/>
              </a:spcBef>
              <a:buNone/>
            </a:pPr>
            <a:r>
              <a:rPr b="1" dirty="0">
                <a:solidFill>
                  <a:srgbClr val="0F172A"/>
                </a:solidFill>
              </a:rPr>
              <a:t>• Wide-to-Long: </a:t>
            </a:r>
            <a:r>
              <a:rPr dirty="0">
                <a:solidFill>
                  <a:srgbClr val="334155"/>
                </a:solidFill>
              </a:rPr>
              <a:t>Eurostat composite headers unpivoted to normalized atomic rows.</a:t>
            </a:r>
          </a:p>
          <a:p>
            <a:pPr>
              <a:spcBef>
                <a:spcPts val="1000"/>
              </a:spcBef>
              <a:buNone/>
            </a:pPr>
            <a:r>
              <a:rPr b="1" dirty="0">
                <a:solidFill>
                  <a:srgbClr val="0F172A"/>
                </a:solidFill>
              </a:rPr>
              <a:t>• Metadata Flags: </a:t>
            </a:r>
            <a:r>
              <a:rPr dirty="0">
                <a:solidFill>
                  <a:srgbClr val="334155"/>
                </a:solidFill>
              </a:rPr>
              <a:t>Flags preserved as descriptive attributes, keeping metrics numeric.</a:t>
            </a:r>
          </a:p>
          <a:p>
            <a:pPr>
              <a:spcBef>
                <a:spcPts val="1000"/>
              </a:spcBef>
              <a:buNone/>
            </a:pPr>
            <a:r>
              <a:rPr b="1" dirty="0">
                <a:solidFill>
                  <a:srgbClr val="0F172A"/>
                </a:solidFill>
              </a:rPr>
              <a:t>• Negative Prices: </a:t>
            </a:r>
            <a:r>
              <a:rPr dirty="0">
                <a:solidFill>
                  <a:srgbClr val="334155"/>
                </a:solidFill>
              </a:rPr>
              <a:t>NL/CZ subsidies audited as legal tax credits, not ingestion bugs.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F11920A-89DB-44DE-91EA-DEC652DFEB2D}"/>
              </a:ext>
            </a:extLst>
          </p:cNvPr>
          <p:cNvSpPr>
            <a:spLocks noGrp="1"/>
          </p:cNvSpPr>
          <p:nvPr/>
        </p:nvSpPr>
        <p:spPr>
          <a:xfrm>
            <a:off x="4379976" y="1463040"/>
            <a:ext cx="3429000" cy="457200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CBB69C-3597-467D-B44D-54D9CAE49B0B}"/>
              </a:ext>
            </a:extLst>
          </p:cNvPr>
          <p:cNvSpPr>
            <a:spLocks noGrp="1"/>
          </p:cNvSpPr>
          <p:nvPr/>
        </p:nvSpPr>
        <p:spPr>
          <a:xfrm>
            <a:off x="4562856" y="1645920"/>
            <a:ext cx="306324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200" b="1">
                <a:solidFill>
                  <a:srgbClr val="0D9488"/>
                </a:solidFill>
              </a:defRPr>
            </a:pPr>
            <a:r>
              <a:rPr sz="1400" dirty="0"/>
              <a:t>IDEMPOTENT UPSERT</a:t>
            </a:r>
          </a:p>
          <a:p>
            <a:pPr>
              <a:spcBef>
                <a:spcPts val="10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ON CONFLICT Logic: </a:t>
            </a:r>
            <a:r>
              <a:rPr sz="1600" dirty="0">
                <a:solidFill>
                  <a:srgbClr val="334155"/>
                </a:solidFill>
              </a:rPr>
              <a:t>Loaders can be interrupted and rerun safely without duplicate rows or key errors.</a:t>
            </a:r>
          </a:p>
          <a:p>
            <a:pPr>
              <a:spcBef>
                <a:spcPts val="10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Transaction Safety: </a:t>
            </a:r>
            <a:r>
              <a:rPr sz="1600" dirty="0">
                <a:solidFill>
                  <a:srgbClr val="334155"/>
                </a:solidFill>
              </a:rPr>
              <a:t>ACID commits and automatic rollbacks on exception.</a:t>
            </a:r>
          </a:p>
          <a:p>
            <a:pPr>
              <a:spcBef>
                <a:spcPts val="10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Universal Runners: </a:t>
            </a:r>
            <a:r>
              <a:rPr sz="1600" dirty="0">
                <a:solidFill>
                  <a:srgbClr val="334155"/>
                </a:solidFill>
              </a:rPr>
              <a:t>One-click automation scripts provided for both macOS/Linux (</a:t>
            </a:r>
            <a:r>
              <a:rPr sz="1600" dirty="0" err="1">
                <a:solidFill>
                  <a:srgbClr val="334155"/>
                </a:solidFill>
              </a:rPr>
              <a:t>run_etl.sh</a:t>
            </a:r>
            <a:r>
              <a:rPr sz="1600" dirty="0">
                <a:solidFill>
                  <a:srgbClr val="334155"/>
                </a:solidFill>
              </a:rPr>
              <a:t>) and Windows (run_etl.ps1).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D28CB40-E48E-41F9-BAC7-80516A27C5E2}"/>
              </a:ext>
            </a:extLst>
          </p:cNvPr>
          <p:cNvSpPr>
            <a:spLocks noGrp="1"/>
          </p:cNvSpPr>
          <p:nvPr/>
        </p:nvSpPr>
        <p:spPr>
          <a:xfrm>
            <a:off x="8028432" y="1463040"/>
            <a:ext cx="3429000" cy="45720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061580-3717-4D06-BC54-F7854DA1AE92}"/>
              </a:ext>
            </a:extLst>
          </p:cNvPr>
          <p:cNvSpPr>
            <a:spLocks noGrp="1"/>
          </p:cNvSpPr>
          <p:nvPr/>
        </p:nvSpPr>
        <p:spPr>
          <a:xfrm>
            <a:off x="8211312" y="1645920"/>
            <a:ext cx="3063240" cy="2929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200" b="1">
                <a:solidFill>
                  <a:srgbClr val="D97706"/>
                </a:solidFill>
              </a:defRPr>
            </a:pPr>
            <a:r>
              <a:rPr lang="en-US" sz="1400" noProof="1"/>
              <a:t>12 INTEGRITY AUDITS</a:t>
            </a:r>
          </a:p>
          <a:p>
            <a:pPr>
              <a:spcBef>
                <a:spcPts val="1000"/>
              </a:spcBef>
            </a:pPr>
            <a:r>
              <a:rPr lang="en-US" sz="1600" noProof="1"/>
              <a:t>After each ETL run, </a:t>
            </a:r>
            <a:r>
              <a:rPr lang="en-US" noProof="1"/>
              <a:t>verify_final_dw.sql</a:t>
            </a:r>
            <a:r>
              <a:rPr lang="en-US" sz="1600" noProof="1"/>
              <a:t> checks key uniqueness, referential integrity, valid value domains, and completeness of the EU-membership bridge.</a:t>
            </a:r>
            <a:br>
              <a:rPr lang="en-US" sz="1600" noProof="1"/>
            </a:br>
            <a:r>
              <a:rPr lang="en-US" sz="1600" noProof="1"/>
              <a:t>These routine checks help identify incomplete loads or transformation issues before running analytical queries.</a:t>
            </a:r>
            <a:endParaRPr lang="en-US" sz="1600" noProof="1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346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0566FA-76DD-4607-9E0C-DF6B95C8A4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E21C6-7F07-434E-9DAF-E6A94FB56CF0}"/>
              </a:ext>
            </a:extLst>
          </p:cNvPr>
          <p:cNvSpPr>
            <a:spLocks noGrp="1"/>
          </p:cNvSpPr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000" b="1">
                <a:solidFill>
                  <a:srgbClr val="0D9488"/>
                </a:solidFill>
                <a:latin typeface="Segoe UI"/>
                <a:ea typeface="Segoe UI"/>
                <a:cs typeface="Segoe UI"/>
              </a:defRPr>
            </a:pPr>
            <a:r>
              <a:t>08 | MULTIDIMENSIONAL NAVIGATION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18AD03-331C-4BBB-A826-34F014F051FC}"/>
              </a:ext>
            </a:extLst>
          </p:cNvPr>
          <p:cNvSpPr>
            <a:spLocks noGrp="1"/>
          </p:cNvSpPr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2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t>Guided 6-Step Didactic OLAP Walkthrough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5C06AD-A4D5-4F7B-A574-CE977FAA4F8B}"/>
              </a:ext>
            </a:extLst>
          </p:cNvPr>
          <p:cNvSpPr>
            <a:spLocks noGrp="1"/>
          </p:cNvSpPr>
          <p:nvPr/>
        </p:nvSpPr>
        <p:spPr>
          <a:xfrm>
            <a:off x="731520" y="120700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AF8DDC-AF3C-4BAD-9BF7-105D155959AD}"/>
              </a:ext>
            </a:extLst>
          </p:cNvPr>
          <p:cNvSpPr>
            <a:spLocks noGrp="1"/>
          </p:cNvSpPr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F2912C-CA25-40DB-B855-FB89F471B1D5}"/>
              </a:ext>
            </a:extLst>
          </p:cNvPr>
          <p:cNvSpPr>
            <a:spLocks noGrp="1"/>
          </p:cNvSpPr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Sapienza Università di Roma — Data Management (2025/2026) | Francesco Gallo &amp; Daniele Zito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E1916-3FDC-4B89-997F-F2E440AB944E}"/>
              </a:ext>
            </a:extLst>
          </p:cNvPr>
          <p:cNvSpPr>
            <a:spLocks noGrp="1"/>
          </p:cNvSpPr>
          <p:nvPr/>
        </p:nvSpPr>
        <p:spPr>
          <a:xfrm>
            <a:off x="9144000" y="6400800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9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Slide 9 / 12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092D08D-1849-4FFC-9312-47DAB6FA1FB0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10728655" cy="6400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18D7781-67FA-4AAE-A9F1-4BFDC5F5ADD6}"/>
              </a:ext>
            </a:extLst>
          </p:cNvPr>
          <p:cNvSpPr>
            <a:spLocks noGrp="1"/>
          </p:cNvSpPr>
          <p:nvPr/>
        </p:nvSpPr>
        <p:spPr>
          <a:xfrm>
            <a:off x="914400" y="1572768"/>
            <a:ext cx="2011680" cy="420624"/>
          </a:xfrm>
          <a:prstGeom prst="roundRect">
            <a:avLst/>
          </a:prstGeom>
          <a:solidFill>
            <a:srgbClr val="EEF2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050" b="1">
                <a:solidFill>
                  <a:srgbClr val="1E3A8A"/>
                </a:solidFill>
                <a:latin typeface="Segoe UI"/>
                <a:ea typeface="Segoe UI"/>
                <a:cs typeface="Segoe UI"/>
              </a:defRPr>
            </a:pPr>
            <a:r>
              <a:t>1. BASE QUERY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39E2C3-8178-4580-951D-1959E4A564AF}"/>
              </a:ext>
            </a:extLst>
          </p:cNvPr>
          <p:cNvSpPr>
            <a:spLocks noGrp="1"/>
          </p:cNvSpPr>
          <p:nvPr/>
        </p:nvSpPr>
        <p:spPr>
          <a:xfrm>
            <a:off x="3108960" y="1664208"/>
            <a:ext cx="81381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1100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rPr dirty="0"/>
              <a:t>Atomic price cell (Country, Semester, Band) -&gt; 1,373 rows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73414F1-8300-4EA0-9105-78CF9B33ED56}"/>
              </a:ext>
            </a:extLst>
          </p:cNvPr>
          <p:cNvSpPr>
            <a:spLocks noGrp="1"/>
          </p:cNvSpPr>
          <p:nvPr/>
        </p:nvSpPr>
        <p:spPr>
          <a:xfrm>
            <a:off x="731520" y="2212848"/>
            <a:ext cx="10728655" cy="6400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17C576F-6DA5-4A4C-87CE-82C9A94F9397}"/>
              </a:ext>
            </a:extLst>
          </p:cNvPr>
          <p:cNvSpPr>
            <a:spLocks noGrp="1"/>
          </p:cNvSpPr>
          <p:nvPr/>
        </p:nvSpPr>
        <p:spPr>
          <a:xfrm>
            <a:off x="914400" y="2322576"/>
            <a:ext cx="2011680" cy="420624"/>
          </a:xfrm>
          <a:prstGeom prst="roundRect">
            <a:avLst/>
          </a:prstGeom>
          <a:solidFill>
            <a:srgbClr val="EEF2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050" b="1">
                <a:solidFill>
                  <a:srgbClr val="1E3A8A"/>
                </a:solidFill>
                <a:latin typeface="Segoe UI"/>
                <a:ea typeface="Segoe UI"/>
                <a:cs typeface="Segoe UI"/>
              </a:defRPr>
            </a:pPr>
            <a:r>
              <a:t>2. ROLL-UP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6A186C-E69F-481F-AF10-66CFFC81CBA5}"/>
              </a:ext>
            </a:extLst>
          </p:cNvPr>
          <p:cNvSpPr>
            <a:spLocks noGrp="1"/>
          </p:cNvSpPr>
          <p:nvPr/>
        </p:nvSpPr>
        <p:spPr>
          <a:xfrm>
            <a:off x="3108960" y="2411730"/>
            <a:ext cx="81381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1100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rPr dirty="0"/>
              <a:t>Ascending hierarchy: Semester -&gt; Year (averaging S1 &amp; S2) -&gt; 701 rows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7F5AA43-4D4F-41F8-BB34-35F710271923}"/>
              </a:ext>
            </a:extLst>
          </p:cNvPr>
          <p:cNvSpPr>
            <a:spLocks noGrp="1"/>
          </p:cNvSpPr>
          <p:nvPr/>
        </p:nvSpPr>
        <p:spPr>
          <a:xfrm>
            <a:off x="731520" y="2962656"/>
            <a:ext cx="10728655" cy="6400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4F59806-0D86-4EE4-BCD5-E5446441843E}"/>
              </a:ext>
            </a:extLst>
          </p:cNvPr>
          <p:cNvSpPr>
            <a:spLocks noGrp="1"/>
          </p:cNvSpPr>
          <p:nvPr/>
        </p:nvSpPr>
        <p:spPr>
          <a:xfrm>
            <a:off x="914400" y="3072384"/>
            <a:ext cx="2011680" cy="420624"/>
          </a:xfrm>
          <a:prstGeom prst="roundRect">
            <a:avLst/>
          </a:prstGeom>
          <a:solidFill>
            <a:srgbClr val="EEF2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050" b="1">
                <a:solidFill>
                  <a:srgbClr val="1E3A8A"/>
                </a:solidFill>
                <a:latin typeface="Segoe UI"/>
                <a:ea typeface="Segoe UI"/>
                <a:cs typeface="Segoe UI"/>
              </a:defRPr>
            </a:pPr>
            <a:r>
              <a:t>3. DRILL-DOWN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D10260-F72C-4C59-81E4-B5AB69F07E09}"/>
              </a:ext>
            </a:extLst>
          </p:cNvPr>
          <p:cNvSpPr>
            <a:spLocks noGrp="1"/>
          </p:cNvSpPr>
          <p:nvPr/>
        </p:nvSpPr>
        <p:spPr>
          <a:xfrm>
            <a:off x="3108960" y="3161538"/>
            <a:ext cx="81381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1100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rPr dirty="0"/>
              <a:t>Introducing consumer type (Household vs Industrial) -&gt; 1,388 rows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D088DE8-6CD3-49AB-A640-2401088FB4B0}"/>
              </a:ext>
            </a:extLst>
          </p:cNvPr>
          <p:cNvSpPr>
            <a:spLocks noGrp="1"/>
          </p:cNvSpPr>
          <p:nvPr/>
        </p:nvSpPr>
        <p:spPr>
          <a:xfrm>
            <a:off x="731520" y="3712464"/>
            <a:ext cx="10728655" cy="6400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0AC21A7-3F86-4950-9172-DF1BC97077A9}"/>
              </a:ext>
            </a:extLst>
          </p:cNvPr>
          <p:cNvSpPr>
            <a:spLocks noGrp="1"/>
          </p:cNvSpPr>
          <p:nvPr/>
        </p:nvSpPr>
        <p:spPr>
          <a:xfrm>
            <a:off x="914400" y="3822192"/>
            <a:ext cx="2011680" cy="420624"/>
          </a:xfrm>
          <a:prstGeom prst="roundRect">
            <a:avLst/>
          </a:prstGeom>
          <a:solidFill>
            <a:srgbClr val="EEF2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050" b="1">
                <a:solidFill>
                  <a:srgbClr val="1E3A8A"/>
                </a:solidFill>
                <a:latin typeface="Segoe UI"/>
                <a:ea typeface="Segoe UI"/>
                <a:cs typeface="Segoe UI"/>
              </a:defRPr>
            </a:pPr>
            <a:r>
              <a:t>4. SLICE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E5AF16-3808-4C44-8A94-08ED955DD825}"/>
              </a:ext>
            </a:extLst>
          </p:cNvPr>
          <p:cNvSpPr>
            <a:spLocks noGrp="1"/>
          </p:cNvSpPr>
          <p:nvPr/>
        </p:nvSpPr>
        <p:spPr>
          <a:xfrm>
            <a:off x="3108960" y="3904488"/>
            <a:ext cx="81381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1100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rPr dirty="0"/>
              <a:t>Hyperplane projection fixing Country = 'Italy' (2D plane) -&gt; 36 rows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E2DBFB0-A429-4FC6-9ABA-ED7DDF4AB94F}"/>
              </a:ext>
            </a:extLst>
          </p:cNvPr>
          <p:cNvSpPr>
            <a:spLocks noGrp="1"/>
          </p:cNvSpPr>
          <p:nvPr/>
        </p:nvSpPr>
        <p:spPr>
          <a:xfrm>
            <a:off x="731520" y="4462272"/>
            <a:ext cx="10728655" cy="6400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892B1B5-ED82-4867-9CB0-5DE0A595B0A1}"/>
              </a:ext>
            </a:extLst>
          </p:cNvPr>
          <p:cNvSpPr>
            <a:spLocks noGrp="1"/>
          </p:cNvSpPr>
          <p:nvPr/>
        </p:nvSpPr>
        <p:spPr>
          <a:xfrm>
            <a:off x="914400" y="4572000"/>
            <a:ext cx="2011680" cy="420624"/>
          </a:xfrm>
          <a:prstGeom prst="roundRect">
            <a:avLst/>
          </a:prstGeom>
          <a:solidFill>
            <a:srgbClr val="EEF2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050" b="1">
                <a:solidFill>
                  <a:srgbClr val="1E3A8A"/>
                </a:solidFill>
                <a:latin typeface="Segoe UI"/>
                <a:ea typeface="Segoe UI"/>
                <a:cs typeface="Segoe UI"/>
              </a:defRPr>
            </a:pPr>
            <a:r>
              <a:t>5. DICE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F416EF-13AF-4A4D-8A16-22578A0099FB}"/>
              </a:ext>
            </a:extLst>
          </p:cNvPr>
          <p:cNvSpPr>
            <a:spLocks noGrp="1"/>
          </p:cNvSpPr>
          <p:nvPr/>
        </p:nvSpPr>
        <p:spPr>
          <a:xfrm>
            <a:off x="3108960" y="4661154"/>
            <a:ext cx="81381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1100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rPr dirty="0"/>
              <a:t>Bounding box: {Italy, Germany} x [2021, 2023] x Households -&gt; 6 rows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9543013-A553-45B7-B0F4-23CC30A540FE}"/>
              </a:ext>
            </a:extLst>
          </p:cNvPr>
          <p:cNvSpPr>
            <a:spLocks noGrp="1"/>
          </p:cNvSpPr>
          <p:nvPr/>
        </p:nvSpPr>
        <p:spPr>
          <a:xfrm>
            <a:off x="731520" y="5212080"/>
            <a:ext cx="10728655" cy="6400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DA8B1B3-298F-43D5-9136-C436D469FED5}"/>
              </a:ext>
            </a:extLst>
          </p:cNvPr>
          <p:cNvSpPr>
            <a:spLocks noGrp="1"/>
          </p:cNvSpPr>
          <p:nvPr/>
        </p:nvSpPr>
        <p:spPr>
          <a:xfrm>
            <a:off x="914400" y="5321808"/>
            <a:ext cx="2011680" cy="420624"/>
          </a:xfrm>
          <a:prstGeom prst="roundRect">
            <a:avLst/>
          </a:prstGeom>
          <a:solidFill>
            <a:srgbClr val="EEF2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050" b="1">
                <a:solidFill>
                  <a:srgbClr val="1E3A8A"/>
                </a:solidFill>
                <a:latin typeface="Segoe UI"/>
                <a:ea typeface="Segoe UI"/>
                <a:cs typeface="Segoe UI"/>
              </a:defRPr>
            </a:pPr>
            <a:r>
              <a:t>6. DRILL-ACROSS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2015C2-9C50-49F7-A86B-0F347A903A4B}"/>
              </a:ext>
            </a:extLst>
          </p:cNvPr>
          <p:cNvSpPr>
            <a:spLocks noGrp="1"/>
          </p:cNvSpPr>
          <p:nvPr/>
        </p:nvSpPr>
        <p:spPr>
          <a:xfrm>
            <a:off x="3108960" y="5390388"/>
            <a:ext cx="81381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1100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rPr dirty="0"/>
              <a:t>Joining Energy Price + Import Dependency on Conformed Year &amp; Country</a:t>
            </a:r>
          </a:p>
        </p:txBody>
      </p:sp>
    </p:spTree>
    <p:extLst>
      <p:ext uri="{BB962C8B-B14F-4D97-AF65-F5344CB8AC3E}">
        <p14:creationId xmlns:p14="http://schemas.microsoft.com/office/powerpoint/2010/main" val="63643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80763E-FE4C-45A3-81D4-306890FA6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66FD61-8F53-45FF-AA98-464975AED2A6}"/>
              </a:ext>
            </a:extLst>
          </p:cNvPr>
          <p:cNvSpPr>
            <a:spLocks noGrp="1"/>
          </p:cNvSpPr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000" b="1">
                <a:solidFill>
                  <a:srgbClr val="0D9488"/>
                </a:solidFill>
                <a:latin typeface="Segoe UI"/>
                <a:ea typeface="Segoe UI"/>
                <a:cs typeface="Segoe UI"/>
              </a:defRPr>
            </a:pPr>
            <a:r>
              <a:t>09 | EMPIRICAL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8DD16B-2244-4BAB-BACB-10B7FB8BE425}"/>
              </a:ext>
            </a:extLst>
          </p:cNvPr>
          <p:cNvSpPr>
            <a:spLocks noGrp="1"/>
          </p:cNvSpPr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2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t>Transmission of Geopolitical Tension into Consumer Prices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710616-7DA0-47B7-B501-0E0C06B01D12}"/>
              </a:ext>
            </a:extLst>
          </p:cNvPr>
          <p:cNvSpPr>
            <a:spLocks noGrp="1"/>
          </p:cNvSpPr>
          <p:nvPr/>
        </p:nvSpPr>
        <p:spPr>
          <a:xfrm>
            <a:off x="731520" y="120700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4C921B-9CB4-4C88-9000-0AE7FE670A59}"/>
              </a:ext>
            </a:extLst>
          </p:cNvPr>
          <p:cNvSpPr>
            <a:spLocks noGrp="1"/>
          </p:cNvSpPr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3C1531-A299-406C-9370-74ADBDA67950}"/>
              </a:ext>
            </a:extLst>
          </p:cNvPr>
          <p:cNvSpPr>
            <a:spLocks noGrp="1"/>
          </p:cNvSpPr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Sapienza Università di Roma — Data Management (2025/2026) | Francesco Gallo &amp; Daniele Zito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09F5B-5A65-4EE6-889B-67AC36B6AE8C}"/>
              </a:ext>
            </a:extLst>
          </p:cNvPr>
          <p:cNvSpPr>
            <a:spLocks noGrp="1"/>
          </p:cNvSpPr>
          <p:nvPr/>
        </p:nvSpPr>
        <p:spPr>
          <a:xfrm>
            <a:off x="9144000" y="6400800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9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Slide 10 / 12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2054BAA-CF7E-4047-8C4B-59377DF1069C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5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89760"/>
            <a:ext cx="4617720" cy="30784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BE158B-437B-4EAC-8D71-D96798641F64}"/>
              </a:ext>
            </a:extLst>
          </p:cNvPr>
          <p:cNvSpPr>
            <a:spLocks noGrp="1"/>
          </p:cNvSpPr>
          <p:nvPr/>
        </p:nvSpPr>
        <p:spPr>
          <a:xfrm>
            <a:off x="868680" y="5029200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100" b="1">
                <a:solidFill>
                  <a:srgbClr val="0F172A"/>
                </a:solidFill>
              </a:defRPr>
            </a:pPr>
            <a:r>
              <a:rPr sz="1400" dirty="0"/>
              <a:t>Query 1: GPR vs Industrial Electricity Correlation</a:t>
            </a:r>
          </a:p>
          <a:p>
            <a:pPr>
              <a:buNone/>
              <a:defRPr sz="1000">
                <a:solidFill>
                  <a:srgbClr val="334155"/>
                </a:solidFill>
              </a:defRPr>
            </a:pPr>
            <a:r>
              <a:rPr sz="1100" dirty="0"/>
              <a:t>Strong positive correlation across major economies (Italy r=0.863, Germany r=0.751). Peak tension anticipates retail price peaks by 4–6 months.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12BEACC-3A94-4F35-834D-50C93A6CE6BE}"/>
              </a:ext>
            </a:extLst>
          </p:cNvPr>
          <p:cNvSpPr>
            <a:spLocks noGrp="1"/>
          </p:cNvSpPr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8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889760"/>
            <a:ext cx="4755507" cy="31510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3C7348-1DC0-47E2-AFA1-6DCBE8D2F0D2}"/>
              </a:ext>
            </a:extLst>
          </p:cNvPr>
          <p:cNvSpPr>
            <a:spLocks noGrp="1"/>
          </p:cNvSpPr>
          <p:nvPr/>
        </p:nvSpPr>
        <p:spPr>
          <a:xfrm>
            <a:off x="6355080" y="5029200"/>
            <a:ext cx="49679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100" b="1">
                <a:solidFill>
                  <a:srgbClr val="0F172A"/>
                </a:solidFill>
              </a:defRPr>
            </a:pPr>
            <a:r>
              <a:rPr sz="1400" dirty="0"/>
              <a:t>Query 5: The 2022 Natural Gas Price Shock</a:t>
            </a:r>
          </a:p>
          <a:p>
            <a:pPr>
              <a:buNone/>
              <a:defRPr sz="1000">
                <a:solidFill>
                  <a:srgbClr val="334155"/>
                </a:solidFill>
              </a:defRPr>
            </a:pPr>
            <a:r>
              <a:rPr sz="1100" dirty="0"/>
              <a:t>Asymmetric impact of GPR +92% surge: Netherlands (+109%) and Italy (+34%) spiked, while Spain contained increases via Iberian exception and LNG.</a:t>
            </a:r>
          </a:p>
        </p:txBody>
      </p:sp>
    </p:spTree>
    <p:extLst>
      <p:ext uri="{BB962C8B-B14F-4D97-AF65-F5344CB8AC3E}">
        <p14:creationId xmlns:p14="http://schemas.microsoft.com/office/powerpoint/2010/main" val="678632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67B9A2-6684-4719-9833-55D38C1E1E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BC8440-84F2-4C14-99F7-142732AF9427}"/>
              </a:ext>
            </a:extLst>
          </p:cNvPr>
          <p:cNvSpPr>
            <a:spLocks noGrp="1"/>
          </p:cNvSpPr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000" b="1">
                <a:solidFill>
                  <a:srgbClr val="0D9488"/>
                </a:solidFill>
                <a:latin typeface="Segoe UI"/>
                <a:ea typeface="Segoe UI"/>
                <a:cs typeface="Segoe UI"/>
              </a:defRPr>
            </a:pPr>
            <a:r>
              <a:t>10 | SUPPLY SECURITY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316903-D6D1-4017-8AA9-92820C46A5E9}"/>
              </a:ext>
            </a:extLst>
          </p:cNvPr>
          <p:cNvSpPr>
            <a:spLocks noGrp="1"/>
          </p:cNvSpPr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2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t>Import Dependency Ranking &amp; Oil Stock Autonomy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EE1C7D-7B16-4923-B963-FE386327A3A1}"/>
              </a:ext>
            </a:extLst>
          </p:cNvPr>
          <p:cNvSpPr>
            <a:spLocks noGrp="1"/>
          </p:cNvSpPr>
          <p:nvPr/>
        </p:nvSpPr>
        <p:spPr>
          <a:xfrm>
            <a:off x="731520" y="120700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148852-D1A9-4A2A-8595-B173C1FF7FA2}"/>
              </a:ext>
            </a:extLst>
          </p:cNvPr>
          <p:cNvSpPr>
            <a:spLocks noGrp="1"/>
          </p:cNvSpPr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B424C4-54F5-46B6-8535-66C285B92B7C}"/>
              </a:ext>
            </a:extLst>
          </p:cNvPr>
          <p:cNvSpPr>
            <a:spLocks noGrp="1"/>
          </p:cNvSpPr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Sapienza Università di Roma — Data Management (2025/2026) | Francesco Gallo &amp; Daniele Zito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36EE56-3BCB-4891-A468-E3E7EE09A8D0}"/>
              </a:ext>
            </a:extLst>
          </p:cNvPr>
          <p:cNvSpPr>
            <a:spLocks noGrp="1"/>
          </p:cNvSpPr>
          <p:nvPr/>
        </p:nvSpPr>
        <p:spPr>
          <a:xfrm>
            <a:off x="9144000" y="6400800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9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Slide 11 / 12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9E3921-BADF-4353-8899-C86523D3737F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5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889760"/>
            <a:ext cx="4617720" cy="30784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13086E-8CEF-4E7C-B55E-917C73989068}"/>
              </a:ext>
            </a:extLst>
          </p:cNvPr>
          <p:cNvSpPr>
            <a:spLocks noGrp="1"/>
          </p:cNvSpPr>
          <p:nvPr/>
        </p:nvSpPr>
        <p:spPr>
          <a:xfrm>
            <a:off x="868680" y="5029200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100" b="1">
                <a:solidFill>
                  <a:srgbClr val="0F172A"/>
                </a:solidFill>
              </a:defRPr>
            </a:pPr>
            <a:r>
              <a:rPr sz="1400" dirty="0"/>
              <a:t>Query 2: 3-Month Moving Average on Strategic Oil Stocks</a:t>
            </a:r>
          </a:p>
          <a:p>
            <a:pPr>
              <a:buNone/>
              <a:defRPr sz="1000">
                <a:solidFill>
                  <a:srgbClr val="334155"/>
                </a:solidFill>
              </a:defRPr>
            </a:pPr>
            <a:r>
              <a:rPr sz="1100" dirty="0"/>
              <a:t>Smooths logistic tanker unloads. For Italy in 2022, the average was 86.5 days and MIN() recorded 82.0 days, below the 90-day IEA threshold.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8AD574F-D779-4A96-B966-D4491BC60FF1}"/>
              </a:ext>
            </a:extLst>
          </p:cNvPr>
          <p:cNvSpPr>
            <a:spLocks noGrp="1"/>
          </p:cNvSpPr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8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661" y="1923101"/>
            <a:ext cx="4642772" cy="30763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EA1EDCF-608B-4516-B3A5-AFE696448D86}"/>
              </a:ext>
            </a:extLst>
          </p:cNvPr>
          <p:cNvSpPr>
            <a:spLocks noGrp="1"/>
          </p:cNvSpPr>
          <p:nvPr/>
        </p:nvSpPr>
        <p:spPr>
          <a:xfrm>
            <a:off x="6355080" y="5029200"/>
            <a:ext cx="49679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100" b="1">
                <a:solidFill>
                  <a:srgbClr val="0F172A"/>
                </a:solidFill>
              </a:defRPr>
            </a:pPr>
            <a:r>
              <a:rPr sz="1400" dirty="0"/>
              <a:t>Query 6: 2024 Import Dependency Ranking (DENSE_RANK)</a:t>
            </a:r>
          </a:p>
          <a:p>
            <a:pPr>
              <a:buNone/>
              <a:defRPr sz="1000">
                <a:solidFill>
                  <a:srgbClr val="334155"/>
                </a:solidFill>
              </a:defRPr>
            </a:pPr>
            <a:r>
              <a:rPr sz="1100" dirty="0"/>
              <a:t>Highlights stark divide: Malta (98.4%) and Luxembourg (91.0%) top vulnerability rankings, contrasted with Norway as net exporter (-677%).</a:t>
            </a:r>
          </a:p>
        </p:txBody>
      </p:sp>
    </p:spTree>
    <p:extLst>
      <p:ext uri="{BB962C8B-B14F-4D97-AF65-F5344CB8AC3E}">
        <p14:creationId xmlns:p14="http://schemas.microsoft.com/office/powerpoint/2010/main" val="1374054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D72854-0AEE-401C-9B4C-1AC710C602A5}"/>
              </a:ext>
            </a:extLst>
          </p:cNvPr>
          <p:cNvSpPr>
            <a:spLocks noGrp="1"/>
          </p:cNvSpPr>
          <p:nvPr/>
        </p:nvSpPr>
        <p:spPr>
          <a:xfrm>
            <a:off x="0" y="36576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75C0E4-E1B0-4E90-88AE-FE7EA7B9A667}"/>
              </a:ext>
            </a:extLst>
          </p:cNvPr>
          <p:cNvSpPr>
            <a:spLocks noGrp="1"/>
          </p:cNvSpPr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000" b="1">
                <a:solidFill>
                  <a:srgbClr val="0D9488"/>
                </a:solidFill>
                <a:latin typeface="Segoe UI"/>
                <a:ea typeface="Segoe UI"/>
                <a:cs typeface="Segoe UI"/>
              </a:defRPr>
            </a:pPr>
            <a:r>
              <a:t>11 | SYNTHESIS &amp; DEFENSE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26F2E7-4D4F-4BF4-B3E0-1D76FF39AC29}"/>
              </a:ext>
            </a:extLst>
          </p:cNvPr>
          <p:cNvSpPr>
            <a:spLocks noGrp="1"/>
          </p:cNvSpPr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2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t>Conclusions, Methodological Limitations &amp; Future 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D006F9-B40C-48EB-8DBA-27BB651E55DD}"/>
              </a:ext>
            </a:extLst>
          </p:cNvPr>
          <p:cNvSpPr>
            <a:spLocks noGrp="1"/>
          </p:cNvSpPr>
          <p:nvPr/>
        </p:nvSpPr>
        <p:spPr>
          <a:xfrm>
            <a:off x="731520" y="120700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C702AE-2692-437B-BDC8-6AFF1A11436A}"/>
              </a:ext>
            </a:extLst>
          </p:cNvPr>
          <p:cNvSpPr>
            <a:spLocks noGrp="1"/>
          </p:cNvSpPr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B3EFBA-0474-4E7B-8952-7CF9FCCDC97A}"/>
              </a:ext>
            </a:extLst>
          </p:cNvPr>
          <p:cNvSpPr>
            <a:spLocks noGrp="1"/>
          </p:cNvSpPr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Sapienza Università di Roma — Data Management (2025/2026) | Francesco Gallo &amp; Daniele Zito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218F42-0511-4101-A214-FC99099D6FC7}"/>
              </a:ext>
            </a:extLst>
          </p:cNvPr>
          <p:cNvSpPr>
            <a:spLocks noGrp="1"/>
          </p:cNvSpPr>
          <p:nvPr/>
        </p:nvSpPr>
        <p:spPr>
          <a:xfrm>
            <a:off x="9144000" y="6400800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9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Slide 12 / 12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8EEEB67-839D-4063-BB00-8BC994257E6D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6823C2-9F67-4CAF-B7BD-14E1A3E524C5}"/>
              </a:ext>
            </a:extLst>
          </p:cNvPr>
          <p:cNvSpPr>
            <a:spLocks noGrp="1"/>
          </p:cNvSpPr>
          <p:nvPr/>
        </p:nvSpPr>
        <p:spPr>
          <a:xfrm>
            <a:off x="914400" y="1645920"/>
            <a:ext cx="3063240" cy="377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200" b="1">
                <a:solidFill>
                  <a:srgbClr val="0D9488"/>
                </a:solidFill>
              </a:defRPr>
            </a:pPr>
            <a:r>
              <a:rPr sz="1400" dirty="0"/>
              <a:t>KEY ACHIEVEMENTS</a:t>
            </a:r>
          </a:p>
          <a:p>
            <a:pPr>
              <a:spcBef>
                <a:spcPts val="10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Rigorous DFM: </a:t>
            </a:r>
            <a:r>
              <a:rPr sz="1600" dirty="0">
                <a:solidFill>
                  <a:srgbClr val="334155"/>
                </a:solidFill>
              </a:rPr>
              <a:t>Four fact schemes applying the </a:t>
            </a:r>
            <a:r>
              <a:rPr sz="1600" dirty="0" err="1">
                <a:solidFill>
                  <a:srgbClr val="334155"/>
                </a:solidFill>
              </a:rPr>
              <a:t>Golfarelli</a:t>
            </a:r>
            <a:r>
              <a:rPr sz="1600" dirty="0">
                <a:solidFill>
                  <a:srgbClr val="334155"/>
                </a:solidFill>
              </a:rPr>
              <a:t> and Rizzi DFM formalisms.</a:t>
            </a:r>
          </a:p>
          <a:p>
            <a:pPr>
              <a:spcBef>
                <a:spcPts val="10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Measure Discipline: </a:t>
            </a:r>
            <a:r>
              <a:rPr sz="1600" dirty="0">
                <a:solidFill>
                  <a:srgbClr val="334155"/>
                </a:solidFill>
              </a:rPr>
              <a:t>Strict adherence to non-additive and semi-additive rules.</a:t>
            </a:r>
          </a:p>
          <a:p>
            <a:pPr>
              <a:spcBef>
                <a:spcPts val="10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Fact Constellation: </a:t>
            </a:r>
            <a:r>
              <a:rPr sz="1600" dirty="0">
                <a:solidFill>
                  <a:srgbClr val="334155"/>
                </a:solidFill>
              </a:rPr>
              <a:t>Zero-crossing planar schema uniting 4 business processes.</a:t>
            </a:r>
          </a:p>
          <a:p>
            <a:pPr>
              <a:spcBef>
                <a:spcPts val="10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13 OLAP Queries: </a:t>
            </a:r>
            <a:r>
              <a:rPr sz="1600" dirty="0">
                <a:solidFill>
                  <a:srgbClr val="334155"/>
                </a:solidFill>
              </a:rPr>
              <a:t>Complete coverage from didactic drill-across to window analytics.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B7AA13E-4664-4F63-88CE-E06CE3EFBB6A}"/>
              </a:ext>
            </a:extLst>
          </p:cNvPr>
          <p:cNvSpPr>
            <a:spLocks noGrp="1"/>
          </p:cNvSpPr>
          <p:nvPr/>
        </p:nvSpPr>
        <p:spPr>
          <a:xfrm>
            <a:off x="4379976" y="1463040"/>
            <a:ext cx="3429000" cy="45720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DAE0C0-2244-4F07-8CEB-C76F001323CE}"/>
              </a:ext>
            </a:extLst>
          </p:cNvPr>
          <p:cNvSpPr>
            <a:spLocks noGrp="1"/>
          </p:cNvSpPr>
          <p:nvPr/>
        </p:nvSpPr>
        <p:spPr>
          <a:xfrm>
            <a:off x="4562856" y="1645920"/>
            <a:ext cx="306324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200" b="1">
                <a:solidFill>
                  <a:srgbClr val="D97706"/>
                </a:solidFill>
              </a:defRPr>
            </a:pPr>
            <a:r>
              <a:rPr sz="1600" dirty="0"/>
              <a:t>METHODOLOGICAL DEFENSE</a:t>
            </a:r>
          </a:p>
          <a:p>
            <a:pPr>
              <a:spcBef>
                <a:spcPts val="12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Correlation != Causality: </a:t>
            </a:r>
            <a:r>
              <a:rPr sz="1600" dirty="0">
                <a:solidFill>
                  <a:srgbClr val="334155"/>
                </a:solidFill>
              </a:rPr>
              <a:t>Italy shows r = 0.863; this describes temporal co-variation, not causation.</a:t>
            </a:r>
          </a:p>
          <a:p>
            <a:pPr>
              <a:spcBef>
                <a:spcPts val="12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Market Mechanics: </a:t>
            </a:r>
            <a:r>
              <a:rPr sz="1600" dirty="0">
                <a:solidFill>
                  <a:srgbClr val="334155"/>
                </a:solidFill>
              </a:rPr>
              <a:t>Merit-order electricity dispatch and take-or-pay gas contracts act as transmission mediators.</a:t>
            </a:r>
          </a:p>
          <a:p>
            <a:pPr>
              <a:spcBef>
                <a:spcPts val="12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Granularity Integrity: </a:t>
            </a:r>
            <a:r>
              <a:rPr sz="1600" dirty="0">
                <a:solidFill>
                  <a:srgbClr val="334155"/>
                </a:solidFill>
              </a:rPr>
              <a:t>Preserving native time frequencies avoided synthetic disaggregation traps.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76B1970-7606-4C4C-A3AD-11BEA58B89E0}"/>
              </a:ext>
            </a:extLst>
          </p:cNvPr>
          <p:cNvSpPr>
            <a:spLocks noGrp="1"/>
          </p:cNvSpPr>
          <p:nvPr/>
        </p:nvSpPr>
        <p:spPr>
          <a:xfrm>
            <a:off x="8028432" y="1463040"/>
            <a:ext cx="3429000" cy="4572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D889D-3A98-4A04-ACE1-8E5E09EC39A8}"/>
              </a:ext>
            </a:extLst>
          </p:cNvPr>
          <p:cNvSpPr>
            <a:spLocks noGrp="1"/>
          </p:cNvSpPr>
          <p:nvPr/>
        </p:nvSpPr>
        <p:spPr>
          <a:xfrm>
            <a:off x="8211312" y="1645920"/>
            <a:ext cx="306324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200" b="1">
                <a:solidFill>
                  <a:srgbClr val="1E3A8A"/>
                </a:solidFill>
              </a:defRPr>
            </a:pPr>
            <a:r>
              <a:rPr sz="1600" dirty="0"/>
              <a:t>LIMITS &amp; FUTURE EXTENSIONS</a:t>
            </a:r>
          </a:p>
          <a:p>
            <a:pPr>
              <a:spcBef>
                <a:spcPts val="12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Eurostat Latency: </a:t>
            </a:r>
            <a:r>
              <a:rPr sz="1600" dirty="0">
                <a:solidFill>
                  <a:srgbClr val="334155"/>
                </a:solidFill>
              </a:rPr>
              <a:t>Official annual energy balances are released with a 9–12 month lag.</a:t>
            </a:r>
          </a:p>
          <a:p>
            <a:pPr>
              <a:spcBef>
                <a:spcPts val="12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High-Frequency Feeds: </a:t>
            </a:r>
            <a:r>
              <a:rPr sz="1600" dirty="0">
                <a:solidFill>
                  <a:srgbClr val="334155"/>
                </a:solidFill>
              </a:rPr>
              <a:t>Architecture is ready to integrate daily wholesale power exchange data</a:t>
            </a:r>
            <a:r>
              <a:rPr lang="it-IT" sz="1600" dirty="0">
                <a:solidFill>
                  <a:srgbClr val="334155"/>
                </a:solidFill>
              </a:rPr>
              <a:t>.</a:t>
            </a:r>
            <a:endParaRPr sz="1600" dirty="0">
              <a:solidFill>
                <a:srgbClr val="334155"/>
              </a:solidFill>
            </a:endParaRPr>
          </a:p>
          <a:p>
            <a:pPr>
              <a:spcBef>
                <a:spcPts val="1200"/>
              </a:spcBef>
              <a:buNone/>
            </a:pPr>
            <a:r>
              <a:rPr sz="1600" b="1" dirty="0">
                <a:solidFill>
                  <a:srgbClr val="0F172A"/>
                </a:solidFill>
              </a:rPr>
              <a:t>• Predictive Views: </a:t>
            </a:r>
            <a:r>
              <a:rPr sz="1600" dirty="0">
                <a:solidFill>
                  <a:srgbClr val="334155"/>
                </a:solidFill>
              </a:rPr>
              <a:t>Materialized views can feed machine-learning models for early-warning energy price forecasting.</a:t>
            </a:r>
          </a:p>
        </p:txBody>
      </p:sp>
    </p:spTree>
    <p:extLst>
      <p:ext uri="{BB962C8B-B14F-4D97-AF65-F5344CB8AC3E}">
        <p14:creationId xmlns:p14="http://schemas.microsoft.com/office/powerpoint/2010/main" val="974039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1396</TotalTime>
  <Words>1795</Words>
  <Application>Microsoft Macintosh PowerPoint</Application>
  <DocSecurity>0</DocSecurity>
  <PresentationFormat>Widescreen</PresentationFormat>
  <Paragraphs>138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TERESA VILLA</cp:lastModifiedBy>
  <cp:revision>4</cp:revision>
  <dcterms:created xsi:type="dcterms:W3CDTF">2026-09-24T15:32:33Z</dcterms:created>
  <dcterms:modified xsi:type="dcterms:W3CDTF">2026-09-26T09:57:34Z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2026-09-25T10:41:34Z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c5d76c51-1042-46ee-82c4-bb3c89e05f6e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50, 3, 0, 1</vt:lpwstr>
  </property>
</Properties>
</file>